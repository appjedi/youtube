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9" r:id="rId3"/>
    <p:sldId id="257" r:id="rId4"/>
    <p:sldId id="258" r:id="rId5"/>
    <p:sldId id="268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218"/>
    <p:restoredTop sz="94675"/>
  </p:normalViewPr>
  <p:slideViewPr>
    <p:cSldViewPr snapToGrid="0">
      <p:cViewPr varScale="1">
        <p:scale>
          <a:sx n="119" d="100"/>
          <a:sy n="119" d="100"/>
        </p:scale>
        <p:origin x="132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3A8254-59CF-A488-F56F-C99B79DC66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BE8352-E957-35CF-E436-B74FD8A98A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B14C3F-15B6-542A-5FDB-0572F185CC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A9FA-A652-404D-BE65-545D295A3195}" type="datetimeFigureOut">
              <a:rPr lang="en-US" smtClean="0"/>
              <a:t>9/20/26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BD214A-AD8E-AFE4-6CEA-9C542C3E2C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C66E15-23EA-ECDD-5CAB-9FE687477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CC9A0-76AD-D045-9EDA-B6178C27D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2546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F1F4E0-14CD-5A3F-4BDC-147BE9C204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298191-8FEA-E5D7-D17B-85272871C0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755F98-C4F1-17F6-E08F-FCF4F5BA3B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A9FA-A652-404D-BE65-545D295A3195}" type="datetimeFigureOut">
              <a:rPr lang="en-US" smtClean="0"/>
              <a:t>9/20/26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9D0E5C-344D-C21E-4F59-AE8817E0D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CDB5CA-F14F-AC32-0E2C-CC99C17EC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CC9A0-76AD-D045-9EDA-B6178C27D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2379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8FEE61-1A6B-D8F2-BD4A-F774C6EE4A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C8FA97-0C85-CA78-6C56-DEE7ACE326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93F789-D985-CF60-EE6C-22A42BF87B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A9FA-A652-404D-BE65-545D295A3195}" type="datetimeFigureOut">
              <a:rPr lang="en-US" smtClean="0"/>
              <a:t>9/20/26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B89622-953F-1107-51B0-B763CF6769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685AE4-6BA8-1CB5-79CF-25179C0C9F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CC9A0-76AD-D045-9EDA-B6178C27D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12164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B3F9-0B1E-CC8B-7BFB-8508A31442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E93472-7508-F4E3-A759-1E7E339F1E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C49008-3F7E-A34F-8A0A-A5CAC129CF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CE5503-9EA4-1AD0-4FCB-9CFC97DA78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A9FA-A652-404D-BE65-545D295A3195}" type="datetimeFigureOut">
              <a:rPr lang="en-US" smtClean="0"/>
              <a:t>9/20/26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29DA29-1B80-D526-3D87-500F8047C0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C4FC62-9FEB-39FA-287A-97D10249E4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CC9A0-76AD-D045-9EDA-B6178C27D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84733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12BF27-6D9C-D6F8-A236-B80AED760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4B2000-9D89-4864-7B49-79EA698821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F70CE6-9FB5-AC34-BC3B-21C75BDBA0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1C201D7-C798-129F-8D9B-1BF4BE52F6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8E4EA4B-4313-F8CA-0155-32FC8EBED93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47C1DB1-A446-ACE7-09CF-40A09143F3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A9FA-A652-404D-BE65-545D295A3195}" type="datetimeFigureOut">
              <a:rPr lang="en-US" smtClean="0"/>
              <a:t>9/20/26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D3C80F0-3626-D8BE-E714-8C773F43EB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E2B5BBC-6571-6913-00C7-66FBAB69F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CC9A0-76AD-D045-9EDA-B6178C27D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3322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C6E012-EABF-4AE0-8B57-3F30E5D023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04A67D-2694-D968-6C0B-F5F1745417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A9FA-A652-404D-BE65-545D295A3195}" type="datetimeFigureOut">
              <a:rPr lang="en-US" smtClean="0"/>
              <a:t>9/20/26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A20364E-89AA-485A-F887-DA0B3FBA6E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A8B07B-D4D4-A591-4D88-A801E2C33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CC9A0-76AD-D045-9EDA-B6178C27D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76308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FE74BEF-ADA5-182A-0A4C-A8838F8643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A9FA-A652-404D-BE65-545D295A3195}" type="datetimeFigureOut">
              <a:rPr lang="en-US" smtClean="0"/>
              <a:t>9/20/26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861BAA8-365C-CDEC-B668-7AE5772B9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4FE0F2-10ED-E5A8-D370-59AF6141B0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CC9A0-76AD-D045-9EDA-B6178C27D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9499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570D7C-3634-5D66-28CA-E54F92D09F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9A5E7B-EDDC-2A91-3171-B5678DBF57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488456-AD4F-3448-B409-9F03E7F209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7C1E39-DE48-6A7F-B5F6-2DB0D1689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A9FA-A652-404D-BE65-545D295A3195}" type="datetimeFigureOut">
              <a:rPr lang="en-US" smtClean="0"/>
              <a:t>9/20/26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0E5F8E-69CA-38A1-2989-D0AFAB1C70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EC74EC-7F38-7071-8CB4-75F1686D5B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CC9A0-76AD-D045-9EDA-B6178C27D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8022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581640-7432-B291-4284-62F9ACEBFF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D63A5FB-7717-C545-1EDD-D3BF996E07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1F843E-601D-5032-1DA0-BA121B0316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1A2277-BD9C-73E5-AC33-BFC8CCA8A0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A9FA-A652-404D-BE65-545D295A3195}" type="datetimeFigureOut">
              <a:rPr lang="en-US" smtClean="0"/>
              <a:t>9/20/26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839720-AB0C-7A64-817D-30289646E3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7E4332-E0BA-0B9C-652E-27787A326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CC9A0-76AD-D045-9EDA-B6178C27D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1922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68B072-C7EA-5597-2F2B-5E724C774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892C54-70F0-1B1A-0983-41F2524079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F1FA9A-8E87-1B91-A519-1B0BABE7FF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A9FA-A652-404D-BE65-545D295A3195}" type="datetimeFigureOut">
              <a:rPr lang="en-US" smtClean="0"/>
              <a:t>9/20/26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48E746-AED6-26BC-F207-70EC89E297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5E4DDD-157C-A4FD-9375-C812216085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CC9A0-76AD-D045-9EDA-B6178C27D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8355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9E21D16-710C-5AF3-3B6E-60BD1DA2D4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A702CC-022B-145B-CF47-701F2B5994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AF0DC2-2836-4CB7-6037-DD44404313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A9FA-A652-404D-BE65-545D295A3195}" type="datetimeFigureOut">
              <a:rPr lang="en-US" smtClean="0"/>
              <a:t>9/20/26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FF878E-5CD3-EF7E-A368-448C29BC8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6D4B23-52B7-FB19-3213-4F67FD696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CC9A0-76AD-D045-9EDA-B6178C27D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7028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24BA407-EFA1-7FA4-0C30-C55DA883D2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17E538-2C38-B708-A798-C3F8526FBC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5CC1F0-E787-9F71-2572-8B976D40C3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BFA9FA-A652-404D-BE65-545D295A3195}" type="datetimeFigureOut">
              <a:rPr lang="en-US" smtClean="0"/>
              <a:t>9/20/26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20A42-2891-EDB9-7F74-0E6D185F08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A2F2C0-1642-44DF-9DD5-DC3F5C6864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7CC9A0-76AD-D045-9EDA-B6178C27D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44695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://www.appjedi.net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613A5C-B3DB-30EA-9E1E-E53AF10D8C1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SQL &amp; Python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05E61F4-7A42-0ACA-BC53-D2CF0D5028E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 </a:t>
            </a:r>
            <a:r>
              <a:rPr lang="en-US" dirty="0" err="1"/>
              <a:t>AppJedi</a:t>
            </a:r>
            <a:endParaRPr lang="en-US" dirty="0"/>
          </a:p>
          <a:p>
            <a:r>
              <a:rPr lang="en-US" sz="3200" dirty="0" err="1"/>
              <a:t>www.appjedi.net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9888796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B0A0E2-348C-8693-72FA-DF896194E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&amp; Python introduction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1B9079-8B12-CED3-CD30-B1E1F8E642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Python and SQL work together by having </a:t>
            </a:r>
            <a:r>
              <a:rPr lang="en-US" b="1" dirty="0"/>
              <a:t>Python act as the application that communicates with the database</a:t>
            </a:r>
            <a:r>
              <a:rPr lang="en-US" dirty="0"/>
              <a:t>. Python sends SQL commands to MySQL to retrieve, add, update, or delete data, and MySQL sends the requested results back to Python for the program to use or display.</a:t>
            </a:r>
          </a:p>
        </p:txBody>
      </p:sp>
    </p:spTree>
    <p:extLst>
      <p:ext uri="{BB962C8B-B14F-4D97-AF65-F5344CB8AC3E}">
        <p14:creationId xmlns:p14="http://schemas.microsoft.com/office/powerpoint/2010/main" val="19847623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4C86DF-16BC-0725-3C5A-5EA7E1A252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&amp;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422479-44F8-E3FC-8F9F-9F4ED7E805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b="1" dirty="0"/>
              <a:t>Python</a:t>
            </a:r>
            <a:r>
              <a:rPr lang="en-US" dirty="0"/>
              <a:t> controls your program. </a:t>
            </a:r>
          </a:p>
          <a:p>
            <a:pPr lvl="0"/>
            <a:r>
              <a:rPr lang="en-US" b="1" dirty="0"/>
              <a:t>SQL</a:t>
            </a:r>
            <a:r>
              <a:rPr lang="en-US" dirty="0"/>
              <a:t> tells the database what information you want. </a:t>
            </a:r>
          </a:p>
          <a:p>
            <a:pPr lvl="0"/>
            <a:r>
              <a:rPr lang="en-US" dirty="0"/>
              <a:t>Python sends the SQL command to MySQL. </a:t>
            </a:r>
          </a:p>
          <a:p>
            <a:pPr lvl="0"/>
            <a:r>
              <a:rPr lang="en-US" dirty="0"/>
              <a:t>MySQL sends the results back to Python.</a:t>
            </a:r>
          </a:p>
        </p:txBody>
      </p:sp>
    </p:spTree>
    <p:extLst>
      <p:ext uri="{BB962C8B-B14F-4D97-AF65-F5344CB8AC3E}">
        <p14:creationId xmlns:p14="http://schemas.microsoft.com/office/powerpoint/2010/main" val="27973671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41C58-BACC-792C-E140-480C3439E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Basic Flow: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B688A21-597D-464D-81E4-DE66BE82AB3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26826" y="2016087"/>
            <a:ext cx="9468124" cy="3636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8009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 descr="A diagram of a computer&#10;&#10;Description automatically generated">
            <a:extLst>
              <a:ext uri="{FF2B5EF4-FFF2-40B4-BE49-F238E27FC236}">
                <a16:creationId xmlns:a16="http://schemas.microsoft.com/office/drawing/2014/main" id="{49E32E13-908B-858D-D2D4-C20EC676E64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901" b="10243"/>
          <a:stretch/>
        </p:blipFill>
        <p:spPr>
          <a:xfrm>
            <a:off x="20" y="302496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03490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A24D14-AC6C-54A3-671B-99A62D751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SQL example: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43B7E42-A491-0DD4-C000-EEE6E1F8BF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import </a:t>
            </a:r>
            <a:r>
              <a:rPr lang="en-US" dirty="0" err="1"/>
              <a:t>mysql.connector</a:t>
            </a:r>
            <a:r>
              <a:rPr lang="en-US" dirty="0"/>
              <a:t>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# Connect to MySQL</a:t>
            </a:r>
          </a:p>
          <a:p>
            <a:pPr marL="0" indent="0">
              <a:buNone/>
            </a:pPr>
            <a:r>
              <a:rPr lang="en-US" dirty="0" err="1"/>
              <a:t>db</a:t>
            </a:r>
            <a:r>
              <a:rPr lang="en-US" dirty="0"/>
              <a:t> = </a:t>
            </a:r>
            <a:r>
              <a:rPr lang="en-US" dirty="0" err="1"/>
              <a:t>mysql.connector.connect</a:t>
            </a:r>
            <a:r>
              <a:rPr lang="en-US" dirty="0"/>
              <a:t>( </a:t>
            </a:r>
          </a:p>
          <a:p>
            <a:pPr marL="0" indent="0">
              <a:buNone/>
            </a:pPr>
            <a:r>
              <a:rPr lang="en-US" dirty="0"/>
              <a:t>	host="localhost", </a:t>
            </a:r>
          </a:p>
          <a:p>
            <a:pPr marL="0" indent="0">
              <a:buNone/>
            </a:pPr>
            <a:r>
              <a:rPr lang="en-US" dirty="0"/>
              <a:t>	user="root", </a:t>
            </a:r>
          </a:p>
          <a:p>
            <a:pPr marL="0" indent="0">
              <a:buNone/>
            </a:pPr>
            <a:r>
              <a:rPr lang="en-US" dirty="0"/>
              <a:t>	password="</a:t>
            </a:r>
            <a:r>
              <a:rPr lang="en-US" dirty="0" err="1"/>
              <a:t>mypassword</a:t>
            </a:r>
            <a:r>
              <a:rPr lang="en-US" dirty="0"/>
              <a:t>", </a:t>
            </a:r>
          </a:p>
          <a:p>
            <a:pPr marL="0" indent="0">
              <a:buNone/>
            </a:pPr>
            <a:r>
              <a:rPr lang="en-US" dirty="0"/>
              <a:t>	database="school" )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# Create a cursor </a:t>
            </a:r>
          </a:p>
          <a:p>
            <a:pPr marL="0" indent="0">
              <a:buNone/>
            </a:pPr>
            <a:r>
              <a:rPr lang="en-US" dirty="0"/>
              <a:t>cursor = </a:t>
            </a:r>
            <a:r>
              <a:rPr lang="en-US" dirty="0" err="1"/>
              <a:t>db.cursor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5717842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574093-5678-C122-A642-84A8FA606B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Prepared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6C338D-3C1D-818D-BDF7-2CED773C8F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6473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dirty="0"/>
              <a:t># Run SQL </a:t>
            </a:r>
          </a:p>
          <a:p>
            <a:pPr marL="0" indent="0">
              <a:buNone/>
            </a:pPr>
            <a:r>
              <a:rPr lang="en-US" sz="1600" dirty="0" err="1"/>
              <a:t>cursor.execute</a:t>
            </a:r>
            <a:r>
              <a:rPr lang="en-US" sz="1600" dirty="0"/>
              <a:t>("SELECT * FROM students")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/>
              <a:t># Get results </a:t>
            </a:r>
          </a:p>
          <a:p>
            <a:pPr marL="0" indent="0">
              <a:buNone/>
            </a:pPr>
            <a:r>
              <a:rPr lang="en-US" sz="1600" dirty="0"/>
              <a:t>results = </a:t>
            </a:r>
            <a:r>
              <a:rPr lang="en-US" sz="1600" dirty="0" err="1"/>
              <a:t>cursor.fetchall</a:t>
            </a:r>
            <a:r>
              <a:rPr lang="en-US" sz="1600" dirty="0"/>
              <a:t>()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/>
              <a:t># Display results </a:t>
            </a:r>
          </a:p>
          <a:p>
            <a:pPr marL="0" indent="0">
              <a:buNone/>
            </a:pPr>
            <a:r>
              <a:rPr lang="en-US" sz="1600" dirty="0"/>
              <a:t>for row in results: </a:t>
            </a:r>
          </a:p>
          <a:p>
            <a:pPr marL="0" indent="0">
              <a:buNone/>
            </a:pPr>
            <a:r>
              <a:rPr lang="en-US" sz="1600" dirty="0"/>
              <a:t>	print(row)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/>
              <a:t># Close everything </a:t>
            </a:r>
          </a:p>
          <a:p>
            <a:pPr marL="0" indent="0">
              <a:buNone/>
            </a:pPr>
            <a:r>
              <a:rPr lang="en-US" sz="1600" dirty="0" err="1"/>
              <a:t>cursor.close</a:t>
            </a:r>
            <a:r>
              <a:rPr lang="en-US" sz="1600" dirty="0"/>
              <a:t>() </a:t>
            </a:r>
          </a:p>
          <a:p>
            <a:pPr marL="0" indent="0">
              <a:buNone/>
            </a:pPr>
            <a:r>
              <a:rPr lang="en-US" sz="1600" dirty="0" err="1"/>
              <a:t>db.close</a:t>
            </a:r>
            <a:r>
              <a:rPr lang="en-US" sz="1600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5489396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EFD37F-6BC8-B1E8-6AC1-03A6F01B8B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Stored Procedure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E71FC3-F02C-4763-6C74-B91DC9375A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lnSpc>
                <a:spcPts val="1350"/>
              </a:lnSpc>
              <a:buNone/>
            </a:pPr>
            <a:endParaRPr lang="en-US" sz="1600" b="0" dirty="0">
              <a:solidFill>
                <a:srgbClr val="569CD6"/>
              </a:solidFill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en-US" dirty="0"/>
              <a:t>cursor = </a:t>
            </a:r>
            <a:r>
              <a:rPr lang="en-US" dirty="0" err="1"/>
              <a:t>conn.cursor</a:t>
            </a:r>
            <a:r>
              <a:rPr lang="en-US" dirty="0"/>
              <a:t>()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cursor.callproc</a:t>
            </a:r>
            <a:r>
              <a:rPr lang="en-US" dirty="0"/>
              <a:t>("</a:t>
            </a:r>
            <a:r>
              <a:rPr lang="en-US" dirty="0" err="1"/>
              <a:t>get_user</a:t>
            </a:r>
            <a:r>
              <a:rPr lang="en-US" dirty="0"/>
              <a:t>", [123])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  <a:p>
            <a:pPr marL="0" indent="0">
              <a:buNone/>
            </a:pPr>
            <a:r>
              <a:rPr lang="en-US" dirty="0"/>
              <a:t>for result in </a:t>
            </a:r>
            <a:r>
              <a:rPr lang="en-US" dirty="0" err="1"/>
              <a:t>cursor.stored_results</a:t>
            </a:r>
            <a:r>
              <a:rPr lang="en-US" dirty="0"/>
              <a:t>():</a:t>
            </a:r>
          </a:p>
          <a:p>
            <a:pPr marL="0" indent="0">
              <a:buNone/>
            </a:pPr>
            <a:r>
              <a:rPr lang="en-US" dirty="0"/>
              <a:t>for row in </a:t>
            </a:r>
            <a:r>
              <a:rPr lang="en-US" dirty="0" err="1"/>
              <a:t>result.fetchall</a:t>
            </a:r>
            <a:r>
              <a:rPr lang="en-US" dirty="0"/>
              <a:t>():</a:t>
            </a:r>
          </a:p>
          <a:p>
            <a:pPr marL="0" indent="0">
              <a:buNone/>
            </a:pPr>
            <a:r>
              <a:rPr lang="en-US" dirty="0"/>
              <a:t>print(row)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  <a:p>
            <a:pPr marL="0" indent="0">
              <a:buNone/>
            </a:pPr>
            <a:r>
              <a:rPr lang="en-US" dirty="0" err="1"/>
              <a:t>cursor.close</a:t>
            </a:r>
            <a:r>
              <a:rPr lang="en-US" dirty="0"/>
              <a:t>()</a:t>
            </a:r>
          </a:p>
          <a:p>
            <a:pPr marL="0" indent="0">
              <a:buNone/>
            </a:pPr>
            <a:r>
              <a:rPr lang="en-US" dirty="0" err="1"/>
              <a:t>conn.close</a:t>
            </a:r>
            <a:r>
              <a:rPr lang="en-US" dirty="0"/>
              <a:t>()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66771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E490D-FA0B-BD1D-149F-3E90237C4D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Stored Procedure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350278-32DF-3B9B-1D7B-1AC4FA279C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dirty="0"/>
              <a:t>CREATE  PROCEDURE `</a:t>
            </a:r>
            <a:r>
              <a:rPr lang="en-US" dirty="0" err="1"/>
              <a:t>usp_user_auth</a:t>
            </a:r>
            <a:r>
              <a:rPr lang="en-US" dirty="0"/>
              <a:t>`(IN `</a:t>
            </a:r>
            <a:r>
              <a:rPr lang="en-US" dirty="0" err="1"/>
              <a:t>p_username</a:t>
            </a:r>
            <a:r>
              <a:rPr lang="en-US" dirty="0"/>
              <a:t>` VARCHAR(50), IN `</a:t>
            </a:r>
            <a:r>
              <a:rPr lang="en-US" dirty="0" err="1"/>
              <a:t>p_password</a:t>
            </a:r>
            <a:r>
              <a:rPr lang="en-US" dirty="0"/>
              <a:t>` VARCHAR(50))</a:t>
            </a:r>
          </a:p>
          <a:p>
            <a:pPr marL="0" indent="0">
              <a:buNone/>
            </a:pPr>
            <a:r>
              <a:rPr lang="en-US" dirty="0"/>
              <a:t>main: BEGIN</a:t>
            </a:r>
          </a:p>
          <a:p>
            <a:pPr marL="0" indent="0">
              <a:buNone/>
            </a:pPr>
            <a:r>
              <a:rPr lang="en-US" dirty="0"/>
              <a:t>	DECLARE </a:t>
            </a:r>
            <a:r>
              <a:rPr lang="en-US" dirty="0" err="1"/>
              <a:t>userId</a:t>
            </a:r>
            <a:r>
              <a:rPr lang="en-US" dirty="0"/>
              <a:t> INT;</a:t>
            </a:r>
          </a:p>
          <a:p>
            <a:pPr marL="0" indent="0">
              <a:buNone/>
            </a:pPr>
            <a:r>
              <a:rPr lang="en-US" dirty="0"/>
              <a:t>    DECLARE </a:t>
            </a:r>
            <a:r>
              <a:rPr lang="en-US" dirty="0" err="1"/>
              <a:t>roleId</a:t>
            </a:r>
            <a:r>
              <a:rPr lang="en-US" dirty="0"/>
              <a:t> INT;</a:t>
            </a:r>
          </a:p>
          <a:p>
            <a:pPr marL="0" indent="0">
              <a:buNone/>
            </a:pPr>
            <a:r>
              <a:rPr lang="en-US" dirty="0"/>
              <a:t>    SET </a:t>
            </a:r>
            <a:r>
              <a:rPr lang="en-US" dirty="0" err="1"/>
              <a:t>userId</a:t>
            </a:r>
            <a:r>
              <a:rPr lang="en-US" dirty="0"/>
              <a:t>=0;</a:t>
            </a:r>
          </a:p>
          <a:p>
            <a:pPr marL="0" indent="0">
              <a:buNone/>
            </a:pPr>
            <a:r>
              <a:rPr lang="en-US" dirty="0"/>
              <a:t>	SELECT </a:t>
            </a:r>
            <a:r>
              <a:rPr lang="en-US" dirty="0" err="1"/>
              <a:t>user_id</a:t>
            </a:r>
            <a:r>
              <a:rPr lang="en-US" dirty="0"/>
              <a:t>, </a:t>
            </a:r>
            <a:r>
              <a:rPr lang="en-US" dirty="0" err="1"/>
              <a:t>role_id</a:t>
            </a:r>
            <a:r>
              <a:rPr lang="en-US" dirty="0"/>
              <a:t> INTO </a:t>
            </a:r>
            <a:r>
              <a:rPr lang="en-US" dirty="0" err="1"/>
              <a:t>userId</a:t>
            </a:r>
            <a:r>
              <a:rPr lang="en-US" dirty="0"/>
              <a:t>, </a:t>
            </a:r>
            <a:r>
              <a:rPr lang="en-US" dirty="0" err="1"/>
              <a:t>roleId</a:t>
            </a:r>
            <a:r>
              <a:rPr lang="en-US" dirty="0"/>
              <a:t> FROM users WHERE username=</a:t>
            </a:r>
            <a:r>
              <a:rPr lang="en-US" dirty="0" err="1"/>
              <a:t>p_username</a:t>
            </a:r>
            <a:r>
              <a:rPr lang="en-US" dirty="0"/>
              <a:t> AND password=</a:t>
            </a:r>
            <a:r>
              <a:rPr lang="en-US" dirty="0" err="1"/>
              <a:t>p_password</a:t>
            </a:r>
            <a:r>
              <a:rPr lang="en-US" dirty="0"/>
              <a:t>;</a:t>
            </a:r>
          </a:p>
          <a:p>
            <a:pPr marL="0" indent="0">
              <a:buNone/>
            </a:pPr>
            <a:r>
              <a:rPr lang="en-US" dirty="0"/>
              <a:t>    IF </a:t>
            </a:r>
            <a:r>
              <a:rPr lang="en-US" dirty="0" err="1"/>
              <a:t>userId</a:t>
            </a:r>
            <a:r>
              <a:rPr lang="en-US" dirty="0"/>
              <a:t> &gt;0 THEN</a:t>
            </a:r>
          </a:p>
          <a:p>
            <a:pPr marL="0" indent="0">
              <a:buNone/>
            </a:pPr>
            <a:r>
              <a:rPr lang="en-US" dirty="0"/>
              <a:t>		SELECT 1 AS `status`, 'User Authenticated' AS message, </a:t>
            </a:r>
            <a:r>
              <a:rPr lang="en-US" dirty="0" err="1"/>
              <a:t>userId</a:t>
            </a:r>
            <a:r>
              <a:rPr lang="en-US" dirty="0"/>
              <a:t>, </a:t>
            </a:r>
            <a:r>
              <a:rPr lang="en-US" dirty="0" err="1"/>
              <a:t>p_username</a:t>
            </a:r>
            <a:r>
              <a:rPr lang="en-US" dirty="0"/>
              <a:t> AS username, </a:t>
            </a:r>
            <a:r>
              <a:rPr lang="en-US" dirty="0" err="1"/>
              <a:t>roleId</a:t>
            </a:r>
            <a:r>
              <a:rPr lang="en-US" dirty="0"/>
              <a:t>;</a:t>
            </a:r>
          </a:p>
          <a:p>
            <a:pPr marL="0" indent="0">
              <a:buNone/>
            </a:pPr>
            <a:r>
              <a:rPr lang="en-US" dirty="0"/>
              <a:t>	ELSE</a:t>
            </a:r>
          </a:p>
          <a:p>
            <a:pPr marL="0" indent="0">
              <a:buNone/>
            </a:pPr>
            <a:r>
              <a:rPr lang="en-US" dirty="0"/>
              <a:t>		SELECT -1 AS `status`, 'User NOT Authenticated' AS </a:t>
            </a:r>
            <a:r>
              <a:rPr lang="en-US" dirty="0" err="1"/>
              <a:t>message,userId</a:t>
            </a:r>
            <a:r>
              <a:rPr lang="en-US" dirty="0"/>
              <a:t>, </a:t>
            </a:r>
            <a:r>
              <a:rPr lang="en-US" dirty="0" err="1"/>
              <a:t>p_username</a:t>
            </a:r>
            <a:r>
              <a:rPr lang="en-US" dirty="0"/>
              <a:t> AS username, 0 AS </a:t>
            </a:r>
            <a:r>
              <a:rPr lang="en-US" dirty="0" err="1"/>
              <a:t>roleId</a:t>
            </a:r>
            <a:r>
              <a:rPr lang="en-US" dirty="0"/>
              <a:t>;</a:t>
            </a:r>
          </a:p>
          <a:p>
            <a:pPr marL="0" indent="0">
              <a:buNone/>
            </a:pPr>
            <a:r>
              <a:rPr lang="en-US" dirty="0"/>
              <a:t>	END IF;</a:t>
            </a:r>
          </a:p>
          <a:p>
            <a:pPr marL="0" indent="0">
              <a:buNone/>
            </a:pPr>
            <a:r>
              <a:rPr lang="en-US" dirty="0"/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36199321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3BBD33-EB2A-21D5-4519-BE8B014A91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Stored Procedures?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D47FCC-E8CE-1055-FA7F-1BB4906FDB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Database defends itself, not dependent on the application.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Additional layer of security and abstraction.  Table and column names hidden from the application.  (Principle of least privilege)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Protects against SQL Injection.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Reduced Network Traffic.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Shared between multiple app clients.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Centralize data processing.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0" indent="0">
              <a:buNone/>
            </a:pPr>
            <a:r>
              <a:rPr lang="en-US" dirty="0"/>
              <a:t>I will be producing a full video on stored procedures. </a:t>
            </a:r>
          </a:p>
        </p:txBody>
      </p:sp>
    </p:spTree>
    <p:extLst>
      <p:ext uri="{BB962C8B-B14F-4D97-AF65-F5344CB8AC3E}">
        <p14:creationId xmlns:p14="http://schemas.microsoft.com/office/powerpoint/2010/main" val="34429853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E9DAA9-C7EF-EC04-C263-1CE6BA55F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9681C-057B-33DF-FF1F-F5D522C678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 validation should always be done on the server.  By server that could be the app server or database server but I recommend the database server.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We could add this snipped to our stored procedure:</a:t>
            </a:r>
          </a:p>
          <a:p>
            <a:pPr marL="0" indent="0">
              <a:buNone/>
            </a:pPr>
            <a:r>
              <a:rPr lang="en-US" sz="1600" dirty="0"/>
              <a:t> IF </a:t>
            </a:r>
            <a:r>
              <a:rPr lang="en-US" sz="1600" dirty="0" err="1"/>
              <a:t>p_username</a:t>
            </a:r>
            <a:r>
              <a:rPr lang="en-US" sz="1600" dirty="0"/>
              <a:t> LIKE '%--%' OR </a:t>
            </a:r>
            <a:r>
              <a:rPr lang="en-US" sz="1600" dirty="0" err="1"/>
              <a:t>p_username</a:t>
            </a:r>
            <a:r>
              <a:rPr lang="en-US" sz="1600" dirty="0"/>
              <a:t> LIKE '%''%' THEN</a:t>
            </a:r>
          </a:p>
          <a:p>
            <a:pPr marL="0" indent="0">
              <a:buNone/>
            </a:pPr>
            <a:r>
              <a:rPr lang="en-US" sz="1600" dirty="0"/>
              <a:t>       INSERT INTO </a:t>
            </a:r>
            <a:r>
              <a:rPr lang="en-US" sz="1600" dirty="0" err="1"/>
              <a:t>user_log</a:t>
            </a:r>
            <a:r>
              <a:rPr lang="en-US" sz="1600" dirty="0"/>
              <a:t> (username, status, message, </a:t>
            </a:r>
            <a:r>
              <a:rPr lang="en-US" sz="1600" dirty="0" err="1"/>
              <a:t>log_date</a:t>
            </a:r>
            <a:r>
              <a:rPr lang="en-US" sz="1600" dirty="0"/>
              <a:t>)</a:t>
            </a:r>
          </a:p>
          <a:p>
            <a:pPr marL="0" indent="0">
              <a:buNone/>
            </a:pPr>
            <a:r>
              <a:rPr lang="en-US" sz="1600" dirty="0"/>
              <a:t>	VALUES (</a:t>
            </a:r>
            <a:r>
              <a:rPr lang="en-US" sz="1600" dirty="0" err="1"/>
              <a:t>p_username</a:t>
            </a:r>
            <a:r>
              <a:rPr lang="en-US" sz="1600" dirty="0"/>
              <a:t>, -2, 'SQL INJECTION ATTEMPTED', SYSDATE());</a:t>
            </a:r>
          </a:p>
          <a:p>
            <a:pPr marL="0" indent="0">
              <a:buNone/>
            </a:pPr>
            <a:r>
              <a:rPr lang="en-US" sz="1600" dirty="0"/>
              <a:t>        SELECT -2 AS `status`, 'User Not Found' AS </a:t>
            </a:r>
            <a:r>
              <a:rPr lang="en-US" sz="1600" dirty="0" err="1"/>
              <a:t>message,userId</a:t>
            </a:r>
            <a:r>
              <a:rPr lang="en-US" sz="1600" dirty="0"/>
              <a:t>, </a:t>
            </a:r>
            <a:r>
              <a:rPr lang="en-US" sz="1600" dirty="0" err="1"/>
              <a:t>p_username</a:t>
            </a:r>
            <a:r>
              <a:rPr lang="en-US" sz="1600" dirty="0"/>
              <a:t> AS username, 0 AS </a:t>
            </a:r>
            <a:r>
              <a:rPr lang="en-US" sz="1600" dirty="0" err="1"/>
              <a:t>roleId</a:t>
            </a:r>
            <a:r>
              <a:rPr lang="en-US" sz="1600" dirty="0"/>
              <a:t>;</a:t>
            </a:r>
          </a:p>
          <a:p>
            <a:pPr marL="0" indent="0">
              <a:buNone/>
            </a:pPr>
            <a:r>
              <a:rPr lang="en-US" sz="1600" dirty="0"/>
              <a:t>        LEAVE main;</a:t>
            </a:r>
          </a:p>
          <a:p>
            <a:pPr marL="0" indent="0">
              <a:buNone/>
            </a:pPr>
            <a:r>
              <a:rPr lang="en-US" sz="1600" dirty="0"/>
              <a:t>  END IF;</a:t>
            </a:r>
          </a:p>
        </p:txBody>
      </p:sp>
    </p:spTree>
    <p:extLst>
      <p:ext uri="{BB962C8B-B14F-4D97-AF65-F5344CB8AC3E}">
        <p14:creationId xmlns:p14="http://schemas.microsoft.com/office/powerpoint/2010/main" val="41941822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EC66D-EF9B-59B3-C614-BBC6BE91B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Email Alert Admin.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F18E27-4C9A-1E11-7CFE-B12B55E705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ts val="1350"/>
              </a:lnSpc>
              <a:buNone/>
            </a:pPr>
            <a:endParaRPr lang="en-US" sz="1800" b="0" dirty="0">
              <a:solidFill>
                <a:srgbClr val="C586C0"/>
              </a:solidFill>
              <a:effectLst/>
              <a:latin typeface="Menlo" panose="020B0609030804020204" pitchFamily="49" charset="0"/>
            </a:endParaRPr>
          </a:p>
          <a:p>
            <a:pPr marL="0" indent="0">
              <a:lnSpc>
                <a:spcPts val="1350"/>
              </a:lnSpc>
              <a:buNone/>
            </a:pPr>
            <a:r>
              <a:rPr lang="en-US" sz="2400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US" sz="24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2400" b="0" dirty="0">
                <a:solidFill>
                  <a:srgbClr val="4FC1FF"/>
                </a:solidFill>
                <a:effectLst/>
                <a:latin typeface="Menlo" panose="020B0609030804020204" pitchFamily="49" charset="0"/>
              </a:rPr>
              <a:t>resp</a:t>
            </a:r>
            <a:r>
              <a:rPr lang="en-US" sz="24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US" sz="2400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US" sz="24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].</a:t>
            </a:r>
            <a:r>
              <a:rPr lang="en-US" sz="2400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status</a:t>
            </a:r>
            <a:r>
              <a:rPr lang="en-US" sz="24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===-</a:t>
            </a:r>
            <a:r>
              <a:rPr lang="en-US" sz="2400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US" sz="24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</a:t>
            </a:r>
          </a:p>
          <a:p>
            <a:pPr marL="0" indent="0">
              <a:lnSpc>
                <a:spcPts val="1350"/>
              </a:lnSpc>
              <a:buNone/>
            </a:pPr>
            <a:r>
              <a:rPr lang="en-US" sz="24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{</a:t>
            </a:r>
          </a:p>
          <a:p>
            <a:pPr marL="457200" lvl="1" indent="0">
              <a:lnSpc>
                <a:spcPts val="1350"/>
              </a:lnSpc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Menlo" panose="020B0609030804020204" pitchFamily="49" charset="0"/>
              </a:rPr>
              <a:t>// SQL </a:t>
            </a:r>
            <a:r>
              <a:rPr lang="en-US" b="0" dirty="0" err="1">
                <a:solidFill>
                  <a:srgbClr val="6A9955"/>
                </a:solidFill>
                <a:effectLst/>
                <a:latin typeface="Menlo" panose="020B0609030804020204" pitchFamily="49" charset="0"/>
              </a:rPr>
              <a:t>Injectio</a:t>
            </a:r>
            <a:r>
              <a:rPr lang="en-US" b="0" dirty="0">
                <a:solidFill>
                  <a:srgbClr val="6A9955"/>
                </a:solidFill>
                <a:effectLst/>
                <a:latin typeface="Menlo" panose="020B0609030804020204" pitchFamily="49" charset="0"/>
              </a:rPr>
              <a:t> attempted;</a:t>
            </a:r>
            <a:endParaRPr lang="en-US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 marL="457200" lvl="1" indent="0">
              <a:lnSpc>
                <a:spcPts val="1350"/>
              </a:lnSpc>
              <a:buNone/>
            </a:pPr>
            <a:r>
              <a:rPr lang="en-US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const</a:t>
            </a:r>
            <a:r>
              <a:rPr lang="en-US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b="0" dirty="0" err="1">
                <a:solidFill>
                  <a:srgbClr val="4FC1FF"/>
                </a:solidFill>
                <a:effectLst/>
                <a:latin typeface="Menlo" panose="020B0609030804020204" pitchFamily="49" charset="0"/>
              </a:rPr>
              <a:t>contactEmail</a:t>
            </a:r>
            <a:r>
              <a:rPr lang="en-US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{</a:t>
            </a:r>
          </a:p>
          <a:p>
            <a:pPr marL="457200" lvl="1" indent="0">
              <a:lnSpc>
                <a:spcPts val="1350"/>
              </a:lnSpc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to:</a:t>
            </a:r>
            <a:r>
              <a:rPr lang="en-US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b="0" dirty="0">
                <a:solidFill>
                  <a:srgbClr val="CE9178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en-US" b="0" dirty="0" err="1">
                <a:solidFill>
                  <a:srgbClr val="CE9178"/>
                </a:solidFill>
                <a:effectLst/>
                <a:latin typeface="Menlo" panose="020B0609030804020204" pitchFamily="49" charset="0"/>
              </a:rPr>
              <a:t>appjedi.net@gmail.com</a:t>
            </a:r>
            <a:r>
              <a:rPr lang="en-US" b="0" dirty="0">
                <a:solidFill>
                  <a:srgbClr val="CE9178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en-US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,</a:t>
            </a:r>
          </a:p>
          <a:p>
            <a:pPr marL="457200" lvl="1" indent="0">
              <a:lnSpc>
                <a:spcPts val="1350"/>
              </a:lnSpc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from:</a:t>
            </a:r>
            <a:r>
              <a:rPr lang="en-US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b="0" dirty="0">
                <a:solidFill>
                  <a:srgbClr val="CE9178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en-US" b="0" dirty="0" err="1">
                <a:solidFill>
                  <a:srgbClr val="CE9178"/>
                </a:solidFill>
                <a:effectLst/>
                <a:latin typeface="Menlo" panose="020B0609030804020204" pitchFamily="49" charset="0"/>
              </a:rPr>
              <a:t>appjedi.net@gmail.com</a:t>
            </a:r>
            <a:r>
              <a:rPr lang="en-US" b="0" dirty="0">
                <a:solidFill>
                  <a:srgbClr val="CE9178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en-US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,</a:t>
            </a:r>
          </a:p>
          <a:p>
            <a:pPr marL="457200" lvl="1" indent="0">
              <a:lnSpc>
                <a:spcPts val="1350"/>
              </a:lnSpc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subject:</a:t>
            </a:r>
            <a:r>
              <a:rPr lang="en-US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b="0" dirty="0">
                <a:solidFill>
                  <a:srgbClr val="CE9178"/>
                </a:solidFill>
                <a:effectLst/>
                <a:latin typeface="Menlo" panose="020B0609030804020204" pitchFamily="49" charset="0"/>
              </a:rPr>
              <a:t>"SQL Injection Attempted."</a:t>
            </a:r>
            <a:r>
              <a:rPr lang="en-US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,</a:t>
            </a:r>
          </a:p>
          <a:p>
            <a:pPr marL="457200" lvl="1" indent="0">
              <a:lnSpc>
                <a:spcPts val="1350"/>
              </a:lnSpc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html:</a:t>
            </a:r>
            <a:r>
              <a:rPr lang="en-US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JSON</a:t>
            </a:r>
            <a:r>
              <a:rPr lang="en-US" b="0" dirty="0" err="1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stringify</a:t>
            </a:r>
            <a:r>
              <a:rPr lang="en-US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b="0" dirty="0">
                <a:solidFill>
                  <a:srgbClr val="4FC1FF"/>
                </a:solidFill>
                <a:effectLst/>
                <a:latin typeface="Menlo" panose="020B0609030804020204" pitchFamily="49" charset="0"/>
              </a:rPr>
              <a:t>resp</a:t>
            </a:r>
            <a:r>
              <a:rPr lang="en-US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US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])</a:t>
            </a:r>
          </a:p>
          <a:p>
            <a:pPr marL="0" indent="0">
              <a:lnSpc>
                <a:spcPts val="1350"/>
              </a:lnSpc>
              <a:buNone/>
            </a:pPr>
            <a:r>
              <a:rPr lang="en-US" sz="24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}</a:t>
            </a:r>
          </a:p>
          <a:p>
            <a:pPr marL="0" indent="0">
              <a:lnSpc>
                <a:spcPts val="1350"/>
              </a:lnSpc>
              <a:buNone/>
            </a:pPr>
            <a:r>
              <a:rPr lang="en-US" sz="2400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const</a:t>
            </a:r>
            <a:r>
              <a:rPr lang="en-US" sz="24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2400" b="0" dirty="0" err="1">
                <a:solidFill>
                  <a:srgbClr val="4FC1FF"/>
                </a:solidFill>
                <a:effectLst/>
                <a:latin typeface="Menlo" panose="020B0609030804020204" pitchFamily="49" charset="0"/>
              </a:rPr>
              <a:t>emailResp</a:t>
            </a:r>
            <a:r>
              <a:rPr lang="en-US" sz="24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2400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24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2400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await</a:t>
            </a:r>
            <a:r>
              <a:rPr lang="en-US" sz="24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2400" b="0" dirty="0" err="1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this</a:t>
            </a:r>
            <a:r>
              <a:rPr lang="en-US" sz="2400" b="0" dirty="0" err="1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US" sz="2400" b="0" dirty="0" err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sendMail</a:t>
            </a:r>
            <a:r>
              <a:rPr lang="en-US" sz="24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2400" b="0" dirty="0" err="1">
                <a:solidFill>
                  <a:srgbClr val="4FC1FF"/>
                </a:solidFill>
                <a:effectLst/>
                <a:latin typeface="Menlo" panose="020B0609030804020204" pitchFamily="49" charset="0"/>
              </a:rPr>
              <a:t>contactEmail</a:t>
            </a:r>
            <a:r>
              <a:rPr lang="en-US" sz="24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);</a:t>
            </a:r>
          </a:p>
          <a:p>
            <a:pPr marL="0" indent="0">
              <a:lnSpc>
                <a:spcPts val="1350"/>
              </a:lnSpc>
              <a:buNone/>
            </a:pPr>
            <a:endParaRPr lang="en-US" sz="1600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6231747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1777B9-8D34-7738-0C77-7AE1B2F741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Summary: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E4F841-34EE-92F2-83FF-72B51DEE6A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/>
          <a:lstStyle/>
          <a:p>
            <a:r>
              <a:rPr lang="en-US" b="1" dirty="0">
                <a:solidFill>
                  <a:srgbClr val="FF0000"/>
                </a:solidFill>
              </a:rPr>
              <a:t>NEVER USE </a:t>
            </a:r>
            <a:r>
              <a:rPr lang="en-US" b="1" strike="sngStrike" dirty="0">
                <a:solidFill>
                  <a:srgbClr val="FF0000"/>
                </a:solidFill>
              </a:rPr>
              <a:t>DYNAMIC SQL</a:t>
            </a:r>
            <a:r>
              <a:rPr lang="en-US" b="1" dirty="0">
                <a:solidFill>
                  <a:srgbClr val="FF0000"/>
                </a:solidFill>
              </a:rPr>
              <a:t>!!!  JUST SAY NO!!!</a:t>
            </a:r>
          </a:p>
          <a:p>
            <a:r>
              <a:rPr lang="en-US" b="1" dirty="0">
                <a:solidFill>
                  <a:srgbClr val="00B050"/>
                </a:solidFill>
              </a:rPr>
              <a:t>Always validate data on the server (app, database or both).</a:t>
            </a:r>
          </a:p>
          <a:p>
            <a:r>
              <a:rPr lang="en-US" b="1" dirty="0">
                <a:solidFill>
                  <a:srgbClr val="00B050"/>
                </a:solidFill>
              </a:rPr>
              <a:t>Use prepared statements or better yet stored procedures.</a:t>
            </a:r>
          </a:p>
          <a:p>
            <a:r>
              <a:rPr lang="en-US" b="1" dirty="0">
                <a:solidFill>
                  <a:srgbClr val="00B050"/>
                </a:solidFill>
              </a:rPr>
              <a:t>Log database access attempts.</a:t>
            </a:r>
          </a:p>
          <a:p>
            <a:endParaRPr lang="en-US" b="1" dirty="0">
              <a:solidFill>
                <a:srgbClr val="00B050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070C0"/>
                </a:solidFill>
              </a:rPr>
              <a:t>Thank you.  Please </a:t>
            </a:r>
            <a:r>
              <a:rPr lang="en-US" b="1" dirty="0">
                <a:solidFill>
                  <a:srgbClr val="00B050"/>
                </a:solidFill>
              </a:rPr>
              <a:t>like</a:t>
            </a:r>
            <a:r>
              <a:rPr lang="en-US" b="1" dirty="0">
                <a:solidFill>
                  <a:srgbClr val="0070C0"/>
                </a:solidFill>
              </a:rPr>
              <a:t> and </a:t>
            </a:r>
            <a:r>
              <a:rPr lang="en-US" b="1" dirty="0">
                <a:solidFill>
                  <a:srgbClr val="00B050"/>
                </a:solidFill>
              </a:rPr>
              <a:t>subscribe</a:t>
            </a:r>
            <a:r>
              <a:rPr lang="en-US" b="1" dirty="0">
                <a:solidFill>
                  <a:srgbClr val="0070C0"/>
                </a:solidFill>
              </a:rPr>
              <a:t> to my channel.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70C0"/>
                </a:solidFill>
              </a:rPr>
              <a:t>Visit me online at:  </a:t>
            </a:r>
            <a:r>
              <a:rPr lang="en-US" sz="3600" b="1" dirty="0">
                <a:solidFill>
                  <a:srgbClr val="0070C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www.appjedi.net</a:t>
            </a:r>
            <a:endParaRPr lang="en-US" sz="3600" b="1" dirty="0">
              <a:solidFill>
                <a:srgbClr val="0070C0"/>
              </a:solidFill>
            </a:endParaRPr>
          </a:p>
          <a:p>
            <a:pPr marL="0" indent="0">
              <a:buNone/>
            </a:pPr>
            <a:r>
              <a:rPr lang="en-US" b="1" dirty="0"/>
              <a:t>	</a:t>
            </a:r>
            <a:r>
              <a:rPr lang="en-US" sz="2400" dirty="0"/>
              <a:t>see links for my LinkedIn, Reddit, Facebook</a:t>
            </a:r>
          </a:p>
        </p:txBody>
      </p:sp>
    </p:spTree>
    <p:extLst>
      <p:ext uri="{BB962C8B-B14F-4D97-AF65-F5344CB8AC3E}">
        <p14:creationId xmlns:p14="http://schemas.microsoft.com/office/powerpoint/2010/main" val="34537246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575</TotalTime>
  <Words>726</Words>
  <Application>Microsoft Macintosh PowerPoint</Application>
  <PresentationFormat>Widescreen</PresentationFormat>
  <Paragraphs>102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Menlo</vt:lpstr>
      <vt:lpstr>Office Theme</vt:lpstr>
      <vt:lpstr>SQL &amp; Python</vt:lpstr>
      <vt:lpstr>SQL &amp; Python introduction </vt:lpstr>
      <vt:lpstr>SQL &amp; Python</vt:lpstr>
      <vt:lpstr>The Basic Flow:</vt:lpstr>
      <vt:lpstr>PowerPoint Presentation</vt:lpstr>
      <vt:lpstr>Python SQL example:</vt:lpstr>
      <vt:lpstr>Prepared Statement</vt:lpstr>
      <vt:lpstr>Stored Procedure</vt:lpstr>
      <vt:lpstr>Stored Procedure</vt:lpstr>
      <vt:lpstr>Why Stored Procedures?</vt:lpstr>
      <vt:lpstr>Data Validation</vt:lpstr>
      <vt:lpstr>Email Alert Admin.</vt:lpstr>
      <vt:lpstr>Summary: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Robert Timlin</dc:creator>
  <cp:lastModifiedBy>Bob Timlin</cp:lastModifiedBy>
  <cp:revision>74</cp:revision>
  <dcterms:created xsi:type="dcterms:W3CDTF">2025-01-06T16:54:18Z</dcterms:created>
  <dcterms:modified xsi:type="dcterms:W3CDTF">2026-09-20T14:06:55Z</dcterms:modified>
</cp:coreProperties>
</file>