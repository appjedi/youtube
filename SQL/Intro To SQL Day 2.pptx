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68" r:id="rId3"/>
    <p:sldId id="278" r:id="rId4"/>
    <p:sldId id="289" r:id="rId5"/>
    <p:sldId id="275" r:id="rId6"/>
    <p:sldId id="280" r:id="rId7"/>
    <p:sldId id="281" r:id="rId8"/>
    <p:sldId id="284" r:id="rId9"/>
    <p:sldId id="282" r:id="rId10"/>
    <p:sldId id="283" r:id="rId11"/>
    <p:sldId id="277" r:id="rId12"/>
    <p:sldId id="290" r:id="rId13"/>
    <p:sldId id="279" r:id="rId14"/>
    <p:sldId id="285" r:id="rId15"/>
    <p:sldId id="286" r:id="rId16"/>
    <p:sldId id="292" r:id="rId17"/>
    <p:sldId id="293" r:id="rId18"/>
    <p:sldId id="294" r:id="rId19"/>
    <p:sldId id="305" r:id="rId20"/>
    <p:sldId id="295" r:id="rId21"/>
    <p:sldId id="306" r:id="rId22"/>
    <p:sldId id="307" r:id="rId23"/>
    <p:sldId id="304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337"/>
    <p:restoredTop sz="94521"/>
  </p:normalViewPr>
  <p:slideViewPr>
    <p:cSldViewPr snapToGrid="0">
      <p:cViewPr varScale="1">
        <p:scale>
          <a:sx n="141" d="100"/>
          <a:sy n="141" d="100"/>
        </p:scale>
        <p:origin x="56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54F46A-3CF5-FC49-9B8A-183B98D15B9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AD5793-65B4-D34F-8729-4722097F66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4771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AD5793-65B4-D34F-8729-4722097F664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3321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43D54-AA7E-D90F-3586-D3380A0AC5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E13392-A6D8-8A9A-5B1A-89D0CEAFC2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782B62-6F22-6541-CFAA-CC55D442E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598D6-C04D-9446-A58F-36E01C46C34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01AB14-5AEA-95FA-BAB4-7DEF457FE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46ADA9-4893-8088-D348-68B24C3C1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65012-D088-EE4A-A81A-8D5D759560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04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726CD-D767-86C8-2394-DDF48DA8F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4A45CD-9C9D-0B95-8443-0608D9B821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961A69-2FE5-CEE9-157E-32CBB6054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598D6-C04D-9446-A58F-36E01C46C34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8C2BBC-5A09-2309-8D77-A99496D0C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FF9FFA-F258-048F-E992-185E942E4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65012-D088-EE4A-A81A-8D5D759560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8527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FE938-37AB-C6B7-456F-30EE91A6B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3C32EB-8BF5-606E-8C7D-AD7D8F3440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2CFC86-6252-087F-8C25-1D483163C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598D6-C04D-9446-A58F-36E01C46C34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D80D46-51B4-94B0-12C9-DAD3AE2C8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425DE5-9809-58A2-3B32-5AA0F199F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65012-D088-EE4A-A81A-8D5D759560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3945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41E26-CCEC-93E6-197D-FEF33B5F3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4BC709-CD84-2094-F3D6-D7A908527C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A9D804-53C1-08E3-B194-1FA9162EC1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94DE21-9732-A8D7-D331-9ACE4FB29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598D6-C04D-9446-A58F-36E01C46C34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27555C-20BC-DD34-B048-475189CB1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AC182C-725B-4640-E69A-3F165A492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65012-D088-EE4A-A81A-8D5D759560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5913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39ABC-AC97-116D-AE44-FFD71A67E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12C0BF-F429-069C-3396-FD7BC2D515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EB9A43-5C2E-6EB2-2496-1AEF8329DD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4ABF84-A49F-51A2-E67F-8B37B567C4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FB8A4F-4407-EC27-F9B4-D21C01584F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963B5C-6CE3-3645-A846-4B8036E6C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598D6-C04D-9446-A58F-36E01C46C34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94AC47-7292-A2E2-2658-2DB256FE5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8AD898-6906-0DBB-6E8F-6D34586AC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65012-D088-EE4A-A81A-8D5D759560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245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E00D9-3FED-47E8-AD53-16AD24CE8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DAC3F6-E83D-0EDA-0862-F335B4153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598D6-C04D-9446-A58F-36E01C46C34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72A0DD-CC45-D711-F1A4-181907BAE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7EC8BF-6127-49B1-8380-AF73744D3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65012-D088-EE4A-A81A-8D5D759560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4223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01B0EE-6FC2-AB80-3240-AAE6C3FC5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598D6-C04D-9446-A58F-36E01C46C34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D23F59-213A-1BF0-9AA6-F2C913FE0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9E96D9-899F-551B-65BE-7B4E1ED6B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65012-D088-EE4A-A81A-8D5D759560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2215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0CC06-6EFF-4EDB-DD08-7B0D063D9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AF3C9E-0F80-D19A-069D-405ECA65ED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FF9169-03E3-BC7A-9682-BD407B02A9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5ABC0A-66D8-02C7-3BAF-924D32D00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598D6-C04D-9446-A58F-36E01C46C34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F14A76-997C-AE1F-C921-07FEDF201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AA3DA3-4D14-38FA-8CC5-556174AF5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65012-D088-EE4A-A81A-8D5D759560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724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CBBBF-2CB4-3F34-5737-7614273E6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4FB187-FEEF-22E9-919C-482781C1F6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74513B-BEC5-BB71-EE93-6A5FC52FDB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8A3387-F61E-E77F-D03F-30F71BD99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598D6-C04D-9446-A58F-36E01C46C34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FA0032-D63B-70DD-3F17-BC7632E7B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940381-4D89-B8BD-11A7-AD2DAC58E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65012-D088-EE4A-A81A-8D5D759560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0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4FC17-4E8C-DDF4-3AA2-DA21D55A2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A5F918-6896-6622-F48D-25D95AE733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95D86B-33E6-338E-675A-E3F7E55A5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598D6-C04D-9446-A58F-36E01C46C34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27C20-AF90-8348-77AC-AE0EC5EFB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D0019C-5204-963A-92E8-7A883AB01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65012-D088-EE4A-A81A-8D5D759560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821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C7E3D1-4C5B-026B-7ABE-A87B2A3DCE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94098A-3F10-AB09-1E83-69FEBFE8A2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58F634-D23A-575E-07A1-FF19A08D8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598D6-C04D-9446-A58F-36E01C46C34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EC636-6195-BB1F-AF5E-F247261D6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16C9DF-F64D-5417-933C-6B9BD4DBC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65012-D088-EE4A-A81A-8D5D759560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083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589D09-8527-678A-6C39-A17455C15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83333A-C5EB-EA4E-279B-83297DB20B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B9A7C2-D2E7-47CD-587D-5152164B7E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6598D6-C04D-9446-A58F-36E01C46C34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E038E2-3DB6-4914-2BC5-46ABF16470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1D074B-7154-5DC6-A287-48FCEBE404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C65012-D088-EE4A-A81A-8D5D759560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999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4C05E-F812-16EF-DBF3-07F16A9345B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Introduction to SQL: Structured Query Language</a:t>
            </a:r>
            <a:br>
              <a:rPr lang="en-US" dirty="0"/>
            </a:br>
            <a:r>
              <a:rPr lang="en-US" sz="4000" dirty="0"/>
              <a:t>By </a:t>
            </a:r>
            <a:r>
              <a:rPr lang="en-US" sz="4000" dirty="0" err="1"/>
              <a:t>AppJedi</a:t>
            </a:r>
            <a:endParaRPr 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4D1DB5-BA77-C674-7DEA-5C9C2BAC7B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Day Two</a:t>
            </a:r>
          </a:p>
        </p:txBody>
      </p:sp>
    </p:spTree>
    <p:extLst>
      <p:ext uri="{BB962C8B-B14F-4D97-AF65-F5344CB8AC3E}">
        <p14:creationId xmlns:p14="http://schemas.microsoft.com/office/powerpoint/2010/main" val="20459267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FFFBF-B745-4F05-CEBE-4054AD558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Syllabus.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EE6D64-96DA-7CF2-3842-F404BE9695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u="sng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Goals: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Basic SELECT statement for data retrieval.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Where clause filter rows.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Using wild cards.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Specifying columns and column aliases.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Order by (Sorting).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Limiting number of rows.</a:t>
            </a:r>
          </a:p>
          <a:p>
            <a:pPr marL="342900" indent="-342900">
              <a:spcBef>
                <a:spcPts val="0"/>
              </a:spcBef>
              <a:buFont typeface="Symbol" pitchFamily="2" charset="2"/>
              <a:buChar char=""/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SQL Operators: Arithmetic, Comparison, Logical</a:t>
            </a:r>
          </a:p>
          <a:p>
            <a:pPr marL="342900" indent="-342900">
              <a:spcBef>
                <a:spcPts val="0"/>
              </a:spcBef>
              <a:buFont typeface="Symbol" pitchFamily="2" charset="2"/>
              <a:buChar char=""/>
            </a:pPr>
            <a:r>
              <a:rPr lang="en-US" sz="1800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SQL Null Functions: </a:t>
            </a:r>
          </a:p>
          <a:p>
            <a:pPr marL="342900" indent="-342900">
              <a:spcBef>
                <a:spcPts val="0"/>
              </a:spcBef>
              <a:buFont typeface="Symbol" pitchFamily="2" charset="2"/>
              <a:buChar char=""/>
            </a:pPr>
            <a:r>
              <a:rPr lang="en-US" sz="1800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Set Operations: UNION, UNION ALL, INTERSECT, EXCEPT</a:t>
            </a:r>
          </a:p>
          <a:p>
            <a:pPr marL="342900" indent="-342900">
              <a:spcBef>
                <a:spcPts val="0"/>
              </a:spcBef>
              <a:buFont typeface="Symbol" pitchFamily="2" charset="2"/>
              <a:buChar char="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Aggregates: COUNT, SUM, AVG, MIN, MAX.</a:t>
            </a:r>
          </a:p>
          <a:p>
            <a:pPr marL="342900" indent="-342900">
              <a:spcBef>
                <a:spcPts val="0"/>
              </a:spcBef>
              <a:buFont typeface="Symbol" pitchFamily="2" charset="2"/>
              <a:buChar char="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Group By and Having (filter).</a:t>
            </a:r>
          </a:p>
          <a:p>
            <a:pPr marL="342900" indent="-342900">
              <a:spcBef>
                <a:spcPts val="0"/>
              </a:spcBef>
              <a:buFont typeface="Symbol" pitchFamily="2" charset="2"/>
              <a:buChar char="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Sub queries.  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Joins:  INNER, LEFT, RIGHT, OUTER.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Temp tables (with)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CASE statements.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Views.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Date functions.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String functions.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Numeric functions.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04556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A76E7-B4F5-7295-E17C-7E74309E9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SQL Comparison Operator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D62FC9-B1EB-7F87-0A43-C1A70675DB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=	Equal to  ==</a:t>
            </a:r>
          </a:p>
          <a:p>
            <a:r>
              <a:rPr lang="en-US" dirty="0"/>
              <a:t>&gt;	Greater than</a:t>
            </a:r>
          </a:p>
          <a:p>
            <a:r>
              <a:rPr lang="en-US" dirty="0"/>
              <a:t>&lt;	Less than</a:t>
            </a:r>
          </a:p>
          <a:p>
            <a:r>
              <a:rPr lang="en-US" dirty="0"/>
              <a:t>&gt;=	Greater than or equal to</a:t>
            </a:r>
          </a:p>
          <a:p>
            <a:r>
              <a:rPr lang="en-US" dirty="0"/>
              <a:t>&lt;=	Less than or equal to</a:t>
            </a:r>
          </a:p>
          <a:p>
            <a:r>
              <a:rPr lang="en-US" dirty="0"/>
              <a:t>&lt;&gt;	Not Equal to.  !=</a:t>
            </a:r>
          </a:p>
        </p:txBody>
      </p:sp>
    </p:spTree>
    <p:extLst>
      <p:ext uri="{BB962C8B-B14F-4D97-AF65-F5344CB8AC3E}">
        <p14:creationId xmlns:p14="http://schemas.microsoft.com/office/powerpoint/2010/main" val="12905008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AD810-348C-0F6D-C565-35D982280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=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6DE76-4B4E-C6CF-ED16-5D88C59CFC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SELECT</a:t>
            </a:r>
            <a:r>
              <a:rPr lang="en-US" sz="1800" b="0" dirty="0">
                <a:solidFill>
                  <a:srgbClr val="3A474E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 </a:t>
            </a:r>
            <a:r>
              <a:rPr lang="en-US" sz="1800" b="0" dirty="0">
                <a:solidFill>
                  <a:srgbClr val="37474F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*</a:t>
            </a:r>
            <a:r>
              <a:rPr lang="en-US" sz="1800" b="0" dirty="0">
                <a:solidFill>
                  <a:srgbClr val="3A474E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 </a:t>
            </a:r>
            <a:r>
              <a:rPr lang="en-US" sz="18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FROM</a:t>
            </a:r>
            <a:r>
              <a:rPr lang="en-US" sz="1800" b="0" dirty="0">
                <a:solidFill>
                  <a:srgbClr val="3A474E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 </a:t>
            </a:r>
            <a:r>
              <a:rPr lang="en-US" sz="1800" b="0" dirty="0">
                <a:solidFill>
                  <a:srgbClr val="0D904F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products</a:t>
            </a:r>
            <a:endParaRPr lang="en-US" sz="1800" b="0" dirty="0">
              <a:solidFill>
                <a:srgbClr val="3A474E"/>
              </a:solidFill>
              <a:effectLst/>
              <a:highlight>
                <a:srgbClr val="FFFFFF"/>
              </a:highlight>
              <a:latin typeface="Roboto Mono" pitchFamily="49" charset="0"/>
            </a:endParaRPr>
          </a:p>
          <a:p>
            <a:pPr marL="0" indent="0">
              <a:buNone/>
            </a:pPr>
            <a:r>
              <a:rPr lang="en-US" sz="18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WHERE</a:t>
            </a:r>
            <a:r>
              <a:rPr lang="en-US" sz="1800" b="0" dirty="0">
                <a:solidFill>
                  <a:srgbClr val="3A474E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 </a:t>
            </a:r>
            <a:r>
              <a:rPr lang="en-US" sz="1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type</a:t>
            </a:r>
            <a:r>
              <a:rPr lang="en-US" sz="1800" b="0" dirty="0">
                <a:solidFill>
                  <a:srgbClr val="3A474E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=</a:t>
            </a:r>
            <a:r>
              <a:rPr lang="en-US" sz="1800" dirty="0">
                <a:solidFill>
                  <a:srgbClr val="F4511E"/>
                </a:solidFill>
                <a:highlight>
                  <a:srgbClr val="FFFFFF"/>
                </a:highlight>
                <a:latin typeface="Roboto Mono" pitchFamily="49" charset="0"/>
              </a:rPr>
              <a:t>‘simple’</a:t>
            </a:r>
            <a:endParaRPr lang="en-US" sz="1800" b="0" dirty="0">
              <a:solidFill>
                <a:srgbClr val="3A474E"/>
              </a:solidFill>
              <a:effectLst/>
              <a:highlight>
                <a:srgbClr val="FFFFFF"/>
              </a:highlight>
              <a:latin typeface="Roboto Mono" pitchFamily="49" charset="0"/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0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SELECT * FROM products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WHERE </a:t>
            </a:r>
            <a:r>
              <a:rPr lang="en-US" sz="20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RegularPrice</a:t>
            </a:r>
            <a:r>
              <a:rPr lang="en-US" sz="20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&gt;10;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2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SELECT * FROM products</a:t>
            </a:r>
          </a:p>
          <a:p>
            <a:pPr marL="0" indent="0">
              <a:buNone/>
            </a:pPr>
            <a:r>
              <a:rPr lang="en-US" sz="22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WHERE </a:t>
            </a:r>
            <a:r>
              <a:rPr lang="en-US" sz="22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RegularPrice</a:t>
            </a:r>
            <a:r>
              <a:rPr lang="en-US" sz="2200" dirty="0">
                <a:solidFill>
                  <a:srgbClr val="3367D6"/>
                </a:solidFill>
                <a:highlight>
                  <a:srgbClr val="FFFFFF"/>
                </a:highlight>
                <a:latin typeface="Roboto Mono" pitchFamily="49" charset="0"/>
              </a:rPr>
              <a:t>&lt;</a:t>
            </a:r>
            <a:r>
              <a:rPr lang="en-US" sz="22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10;</a:t>
            </a:r>
          </a:p>
          <a:p>
            <a:pPr marL="0" indent="0">
              <a:buNone/>
            </a:pPr>
            <a:endParaRPr lang="en-US" sz="2200" b="0" dirty="0">
              <a:solidFill>
                <a:srgbClr val="F4511E"/>
              </a:solidFill>
              <a:effectLst/>
              <a:highlight>
                <a:srgbClr val="FFFFFF"/>
              </a:highlight>
              <a:latin typeface="Roboto Mono" pitchFamily="49" charset="0"/>
            </a:endParaRPr>
          </a:p>
          <a:p>
            <a:pPr marL="0" indent="0">
              <a:buNone/>
            </a:pPr>
            <a:endParaRPr lang="en-US" sz="2200" b="0" dirty="0">
              <a:solidFill>
                <a:srgbClr val="3A474E"/>
              </a:solidFill>
              <a:effectLst/>
              <a:highlight>
                <a:srgbClr val="FFFFFF"/>
              </a:highlight>
              <a:latin typeface="Roboto Mono" pitchFamily="49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46124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021F6-DFDB-FBBF-9CBC-26A409F00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SQL Logical Operators</a:t>
            </a:r>
            <a:br>
              <a:rPr lang="en-US" sz="4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F7D687-DA26-EF2F-574D-02F5CA561A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BETWEEN</a:t>
            </a:r>
          </a:p>
          <a:p>
            <a:r>
              <a:rPr lang="en-US" sz="2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</a:t>
            </a:r>
          </a:p>
          <a:p>
            <a:r>
              <a:rPr lang="en-US" sz="2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NOT IN</a:t>
            </a:r>
          </a:p>
          <a:p>
            <a:r>
              <a:rPr lang="en-US" sz="2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ANY – works the same as IN</a:t>
            </a:r>
          </a:p>
          <a:p>
            <a:r>
              <a:rPr lang="en-US" sz="2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ALL	- Doesn’t appear to be supported by Big Query.</a:t>
            </a:r>
          </a:p>
          <a:p>
            <a:r>
              <a:rPr lang="en-US" sz="2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EXISTS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3925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BABEB-CB5D-F906-6D4D-717065746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BETWEEN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142C91-4172-00FA-988E-66D0BDA0F1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sz="16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The BETWEEN operator selects values within a given range. The values can be numbers, text, or dates.</a:t>
            </a:r>
          </a:p>
          <a:p>
            <a:pPr algn="l"/>
            <a:r>
              <a:rPr lang="en-US" sz="16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The BETWEEN operator is inclusive: begin and end values are included. </a:t>
            </a:r>
          </a:p>
          <a:p>
            <a:pPr marL="0" indent="0">
              <a:buNone/>
            </a:pPr>
            <a:endParaRPr lang="en-US" sz="2400" b="0" dirty="0">
              <a:solidFill>
                <a:srgbClr val="3367D6"/>
              </a:solidFill>
              <a:effectLst/>
              <a:highlight>
                <a:srgbClr val="FFFFFF"/>
              </a:highlight>
              <a:latin typeface="Roboto Mono" pitchFamily="49" charset="0"/>
            </a:endParaRPr>
          </a:p>
          <a:p>
            <a:pPr marL="0" indent="0">
              <a:buNone/>
            </a:pPr>
            <a:r>
              <a:rPr lang="en-US" sz="24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SELECT name, </a:t>
            </a:r>
            <a:r>
              <a:rPr lang="en-US" sz="24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RegularPrice</a:t>
            </a:r>
            <a:r>
              <a:rPr lang="en-US" sz="24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 FROM products</a:t>
            </a:r>
          </a:p>
          <a:p>
            <a:pPr marL="0" indent="0">
              <a:buNone/>
            </a:pPr>
            <a:r>
              <a:rPr lang="en-US" sz="24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WHERE </a:t>
            </a:r>
            <a:r>
              <a:rPr lang="en-US" sz="24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RegularPrice</a:t>
            </a:r>
            <a:r>
              <a:rPr lang="en-US" sz="24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 BETWEEN 10 AND 20;</a:t>
            </a:r>
            <a:endParaRPr lang="en-US" dirty="0"/>
          </a:p>
        </p:txBody>
      </p:sp>
      <p:pic>
        <p:nvPicPr>
          <p:cNvPr id="5" name="Picture 4" descr="A screenshot of a list of clothing&#10;&#10;Description automatically generated">
            <a:extLst>
              <a:ext uri="{FF2B5EF4-FFF2-40B4-BE49-F238E27FC236}">
                <a16:creationId xmlns:a16="http://schemas.microsoft.com/office/drawing/2014/main" id="{94965502-48E9-E462-4EB8-7AED77AAB6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1054" y="3471480"/>
            <a:ext cx="2705100" cy="247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406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77B10-5CA3-384F-DB48-8600A84D7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063A1F-693E-4452-2CF7-DA72956CA3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sz="16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The IN operator allows you to specify multiple values in a WHERE clause.</a:t>
            </a:r>
          </a:p>
          <a:p>
            <a:pPr algn="l"/>
            <a:r>
              <a:rPr lang="en-US" sz="16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The IN operator is a shorthand for multiple OR conditions.</a:t>
            </a:r>
          </a:p>
          <a:p>
            <a:pPr marL="0" indent="0" algn="l">
              <a:buNone/>
            </a:pPr>
            <a:endParaRPr lang="en-US" sz="2400" b="0" dirty="0">
              <a:solidFill>
                <a:srgbClr val="3367D6"/>
              </a:solidFill>
              <a:effectLst/>
              <a:highlight>
                <a:srgbClr val="FFFFFF"/>
              </a:highlight>
              <a:latin typeface="Roboto Mono" pitchFamily="49" charset="0"/>
            </a:endParaRPr>
          </a:p>
          <a:p>
            <a:pPr marL="0" indent="0">
              <a:buNone/>
            </a:pPr>
            <a:r>
              <a:rPr lang="en-US" sz="20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SELECT name, categories FROM </a:t>
            </a:r>
            <a:r>
              <a:rPr lang="en-US" sz="20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appjedin_student_temp.products</a:t>
            </a:r>
            <a:endParaRPr lang="en-US" sz="2000" b="0" dirty="0">
              <a:solidFill>
                <a:srgbClr val="3367D6"/>
              </a:solidFill>
              <a:effectLst/>
              <a:highlight>
                <a:srgbClr val="FFFFFF"/>
              </a:highlight>
              <a:latin typeface="Roboto Mono" pitchFamily="49" charset="0"/>
            </a:endParaRPr>
          </a:p>
          <a:p>
            <a:pPr marL="0" indent="0">
              <a:buNone/>
            </a:pPr>
            <a:r>
              <a:rPr lang="en-US" sz="20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WHERE categories 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3367D6"/>
                </a:solidFill>
                <a:highlight>
                  <a:srgbClr val="FFFFFF"/>
                </a:highlight>
                <a:latin typeface="Roboto Mono" pitchFamily="49" charset="0"/>
              </a:rPr>
              <a:t>	</a:t>
            </a:r>
            <a:r>
              <a:rPr lang="en-US" sz="20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IN ('Clothing’, </a:t>
            </a:r>
            <a:r>
              <a:rPr lang="en-US" sz="20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Accessories','Clothing</a:t>
            </a:r>
            <a:r>
              <a:rPr lang="en-US" sz="20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 &gt; </a:t>
            </a:r>
            <a:r>
              <a:rPr lang="en-US" sz="20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Hoodies','Clothing</a:t>
            </a:r>
            <a:r>
              <a:rPr lang="en-US" sz="20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 &gt; </a:t>
            </a:r>
            <a:r>
              <a:rPr lang="en-US" sz="20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Tshirts</a:t>
            </a:r>
            <a:r>
              <a:rPr lang="en-US" sz="20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');</a:t>
            </a:r>
            <a:endParaRPr lang="en-US" sz="2000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6255E0B3-77B4-E79D-B5CA-7C4FDBB208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1418" y="4172697"/>
            <a:ext cx="3073400" cy="173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6710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77B10-5CA3-384F-DB48-8600A84D7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 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063A1F-693E-4452-2CF7-DA72956CA3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557712"/>
          </a:xfrm>
        </p:spPr>
        <p:txBody>
          <a:bodyPr>
            <a:normAutofit/>
          </a:bodyPr>
          <a:lstStyle/>
          <a:p>
            <a:pPr algn="l"/>
            <a:r>
              <a:rPr lang="en-US" sz="16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The NOT IN operator allows you to specify multiple values not in a WHERE clause.</a:t>
            </a:r>
          </a:p>
          <a:p>
            <a:pPr algn="l"/>
            <a:r>
              <a:rPr lang="en-US" sz="16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The NOT IN operator is a shorthand for multiple OR conditions.</a:t>
            </a:r>
          </a:p>
          <a:p>
            <a:pPr algn="l"/>
            <a:endParaRPr lang="en-US" sz="2400" b="0" dirty="0">
              <a:solidFill>
                <a:srgbClr val="3367D6"/>
              </a:solidFill>
              <a:effectLst/>
              <a:highlight>
                <a:srgbClr val="FFFFFF"/>
              </a:highlight>
              <a:latin typeface="Roboto Mono" pitchFamily="49" charset="0"/>
            </a:endParaRPr>
          </a:p>
          <a:p>
            <a:pPr marL="0" indent="0">
              <a:buNone/>
            </a:pPr>
            <a:r>
              <a:rPr lang="en-US" sz="24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SELECT name, categories FROM </a:t>
            </a:r>
            <a:r>
              <a:rPr lang="en-US" sz="24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appjedin_student_temp.products</a:t>
            </a:r>
            <a:endParaRPr lang="en-US" sz="2400" b="0" dirty="0">
              <a:solidFill>
                <a:srgbClr val="3367D6"/>
              </a:solidFill>
              <a:effectLst/>
              <a:highlight>
                <a:srgbClr val="FFFFFF"/>
              </a:highlight>
              <a:latin typeface="Roboto Mono" pitchFamily="49" charset="0"/>
            </a:endParaRPr>
          </a:p>
          <a:p>
            <a:pPr marL="0" indent="0">
              <a:buNone/>
            </a:pPr>
            <a:r>
              <a:rPr lang="en-US" sz="24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WHERE categories 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3367D6"/>
                </a:solidFill>
                <a:highlight>
                  <a:srgbClr val="FFFFFF"/>
                </a:highlight>
                <a:latin typeface="Roboto Mono" pitchFamily="49" charset="0"/>
              </a:rPr>
              <a:t>	NOT </a:t>
            </a:r>
            <a:r>
              <a:rPr lang="en-US" sz="24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IN ('Clothing &gt; </a:t>
            </a:r>
            <a:r>
              <a:rPr lang="en-US" sz="24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Accessories','Clothing</a:t>
            </a:r>
            <a:r>
              <a:rPr lang="en-US" sz="24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 &gt; </a:t>
            </a:r>
            <a:r>
              <a:rPr lang="en-US" sz="24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Hoodies','Clothing</a:t>
            </a:r>
            <a:r>
              <a:rPr lang="en-US" sz="24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 &gt; </a:t>
            </a:r>
            <a:r>
              <a:rPr lang="en-US" sz="24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Tshirts</a:t>
            </a:r>
            <a:r>
              <a:rPr lang="en-US" sz="24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');</a:t>
            </a:r>
            <a:endParaRPr lang="en-US" sz="24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screenshot of a list of clothing&#10;&#10;Description automatically generated">
            <a:extLst>
              <a:ext uri="{FF2B5EF4-FFF2-40B4-BE49-F238E27FC236}">
                <a16:creationId xmlns:a16="http://schemas.microsoft.com/office/drawing/2014/main" id="{056E05D2-2033-B6B9-7A3F-A04BEB75BA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1545" y="4472151"/>
            <a:ext cx="2438400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0592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77B10-5CA3-384F-DB48-8600A84D7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BETWEEN &amp; NOT IN compound condition.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063A1F-693E-4452-2CF7-DA72956CA3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SELECT name, </a:t>
            </a:r>
            <a:r>
              <a:rPr lang="en-US" sz="24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RegularPrice</a:t>
            </a:r>
            <a:r>
              <a:rPr lang="en-US" sz="24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 FROM products</a:t>
            </a:r>
          </a:p>
          <a:p>
            <a:pPr marL="0" indent="0">
              <a:buNone/>
            </a:pPr>
            <a:r>
              <a:rPr lang="en-US" sz="24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WHERE </a:t>
            </a:r>
            <a:r>
              <a:rPr lang="en-US" sz="24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RegularPrice</a:t>
            </a:r>
            <a:r>
              <a:rPr lang="en-US" sz="24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 BETWEEN 10 AND 20</a:t>
            </a:r>
          </a:p>
          <a:p>
            <a:pPr marL="0" indent="0">
              <a:buNone/>
            </a:pPr>
            <a:r>
              <a:rPr lang="en-US" sz="24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AND categories 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3367D6"/>
                </a:solidFill>
                <a:highlight>
                  <a:srgbClr val="FFFFFF"/>
                </a:highlight>
                <a:latin typeface="Roboto Mono" pitchFamily="49" charset="0"/>
              </a:rPr>
              <a:t>	NOT </a:t>
            </a:r>
            <a:r>
              <a:rPr lang="en-US" sz="24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IN ('Clothing &gt; </a:t>
            </a:r>
            <a:r>
              <a:rPr lang="en-US" sz="24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Accessories','Clothing</a:t>
            </a:r>
            <a:r>
              <a:rPr lang="en-US" sz="24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 &gt; </a:t>
            </a:r>
            <a:r>
              <a:rPr lang="en-US" sz="24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Hoodies','Clothing</a:t>
            </a:r>
            <a:r>
              <a:rPr lang="en-US" sz="24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 &gt; </a:t>
            </a:r>
            <a:r>
              <a:rPr lang="en-US" sz="24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Tshirts</a:t>
            </a:r>
            <a:r>
              <a:rPr lang="en-US" sz="24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');</a:t>
            </a:r>
            <a:endParaRPr lang="en-US" sz="24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D5ABB9D0-B4A4-9FB1-44D1-BCE2229E29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7984" y="4213095"/>
            <a:ext cx="3873500" cy="172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8125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77B10-5CA3-384F-DB48-8600A84D7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EXISTS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063A1F-693E-4452-2CF7-DA72956CA3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5836" y="1690688"/>
            <a:ext cx="10515600" cy="4351338"/>
          </a:xfrm>
        </p:spPr>
        <p:txBody>
          <a:bodyPr>
            <a:normAutofit/>
          </a:bodyPr>
          <a:lstStyle/>
          <a:p>
            <a:pPr algn="l"/>
            <a:r>
              <a:rPr lang="en-US" sz="11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The EXISTS operator is used to test for the existence of any record in a subquery.</a:t>
            </a:r>
          </a:p>
          <a:p>
            <a:pPr algn="l"/>
            <a:r>
              <a:rPr lang="en-US" sz="11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The EXISTS operator returns TRUE if the subquery returns one or more records.</a:t>
            </a:r>
          </a:p>
          <a:p>
            <a:pPr algn="l"/>
            <a:endParaRPr lang="en-US" sz="11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Verdana" panose="020B0604030504040204" pitchFamily="34" charset="0"/>
            </a:endParaRPr>
          </a:p>
          <a:p>
            <a:pPr marL="0" indent="0">
              <a:buNone/>
            </a:pPr>
            <a:r>
              <a:rPr lang="en-US" sz="20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SELECT * FROM products 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WHERE EXISTS(SELECT 1 FROM products WHERE </a:t>
            </a:r>
            <a:r>
              <a:rPr lang="en-US" sz="20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RegularPrice</a:t>
            </a:r>
            <a:r>
              <a:rPr lang="en-US" sz="20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&gt;10)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0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SELECT * FROM products 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WHERE NOT EXISTS(SELECT 1 FROM products WHERE </a:t>
            </a:r>
            <a:r>
              <a:rPr lang="en-US" sz="20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RegularPrice</a:t>
            </a:r>
            <a:r>
              <a:rPr lang="en-US" sz="20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&gt;10)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57843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A06D9-D0BC-C8B9-BFDA-10C5BDEEA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SQL Arithmetic Operators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F420AD-2596-A8FA-244A-AF73194386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+	Addition</a:t>
            </a:r>
          </a:p>
          <a:p>
            <a:r>
              <a:rPr lang="en-US" dirty="0"/>
              <a:t>- 	Subtraction</a:t>
            </a:r>
          </a:p>
          <a:p>
            <a:r>
              <a:rPr lang="en-US" dirty="0"/>
              <a:t>*	Multiplication</a:t>
            </a:r>
          </a:p>
          <a:p>
            <a:r>
              <a:rPr lang="en-US" dirty="0"/>
              <a:t>/	Division</a:t>
            </a:r>
          </a:p>
          <a:p>
            <a:r>
              <a:rPr lang="en-US" dirty="0"/>
              <a:t>%	Modulus. </a:t>
            </a:r>
          </a:p>
        </p:txBody>
      </p:sp>
    </p:spTree>
    <p:extLst>
      <p:ext uri="{BB962C8B-B14F-4D97-AF65-F5344CB8AC3E}">
        <p14:creationId xmlns:p14="http://schemas.microsoft.com/office/powerpoint/2010/main" val="39027434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C4B25-7B57-B984-7439-D0AB1176B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</a:t>
            </a:r>
            <a:r>
              <a:rPr lang="en-US" dirty="0" err="1"/>
              <a:t>Substraction</a:t>
            </a:r>
            <a:r>
              <a:rPr lang="en-US" dirty="0"/>
              <a:t> (-)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425C8-4B51-D26F-E6A2-1FB777C682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3791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sz="14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SELECT </a:t>
            </a:r>
            <a:r>
              <a:rPr lang="en-US" sz="14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RegularPrice</a:t>
            </a:r>
            <a:r>
              <a:rPr lang="en-US" sz="14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, </a:t>
            </a:r>
            <a:r>
              <a:rPr lang="en-US" sz="14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SalePrice</a:t>
            </a:r>
            <a:r>
              <a:rPr lang="en-US" sz="14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, </a:t>
            </a:r>
            <a:r>
              <a:rPr lang="en-US" sz="14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RegularPrice</a:t>
            </a:r>
            <a:r>
              <a:rPr lang="en-US" sz="14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 - </a:t>
            </a:r>
            <a:r>
              <a:rPr lang="en-US" sz="14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SalePrice</a:t>
            </a:r>
            <a:r>
              <a:rPr lang="en-US" sz="14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 FROM products;</a:t>
            </a:r>
            <a:endParaRPr lang="en-US" sz="1400" dirty="0">
              <a:solidFill>
                <a:srgbClr val="F4511E"/>
              </a:solidFill>
              <a:highlight>
                <a:srgbClr val="FFFFFF"/>
              </a:highlight>
              <a:latin typeface="Roboto Mono" pitchFamily="49" charset="0"/>
            </a:endParaRPr>
          </a:p>
          <a:p>
            <a:pPr marL="0" indent="0">
              <a:buNone/>
            </a:pPr>
            <a:endParaRPr lang="en-US" sz="1400" b="0" dirty="0">
              <a:solidFill>
                <a:srgbClr val="F4511E"/>
              </a:solidFill>
              <a:effectLst/>
              <a:highlight>
                <a:srgbClr val="FFFFFF"/>
              </a:highlight>
              <a:latin typeface="Roboto Mono" pitchFamily="49" charset="0"/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 descr="A screenshot of a table&#10;&#10;Description automatically generated">
            <a:extLst>
              <a:ext uri="{FF2B5EF4-FFF2-40B4-BE49-F238E27FC236}">
                <a16:creationId xmlns:a16="http://schemas.microsoft.com/office/drawing/2014/main" id="{CE798304-34BD-104A-BAC8-535E619B2E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1367" y="2597578"/>
            <a:ext cx="2311400" cy="256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4418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2FF19-8F49-3764-5E88-31AD38F59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NULL values &amp; SQL Null Functions: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9E6C3-8516-1BC0-A025-44551E874C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Segoe UI" panose="020B0502040204020203" pitchFamily="34" charset="0"/>
              </a:rPr>
              <a:t>What is Null?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IFNULL() 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IS NULL operator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49080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57CCB-B56F-1F99-F107-012ECFD47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NULL value?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8554AC-F892-2D7B-F173-3F6351500F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0" i="0" dirty="0">
                <a:solidFill>
                  <a:srgbClr val="66666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A field with a NULL value is a field with no value.</a:t>
            </a:r>
          </a:p>
          <a:p>
            <a:pPr marL="0" indent="0">
              <a:buNone/>
            </a:pPr>
            <a:endParaRPr lang="en-US" dirty="0">
              <a:solidFill>
                <a:srgbClr val="666666"/>
              </a:solidFill>
              <a:highlight>
                <a:srgbClr val="FFFFFF"/>
              </a:highlight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4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Roboto Mono" pitchFamily="49" charset="0"/>
              </a:rPr>
              <a:t>SELECT * FROM customer WHERE email IS NULL;</a:t>
            </a:r>
            <a:endParaRPr lang="en-US" dirty="0">
              <a:solidFill>
                <a:srgbClr val="666666"/>
              </a:solidFill>
              <a:highlight>
                <a:srgbClr val="FFFFFF"/>
              </a:highlight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 descr="A screenshot of a phone&#10;&#10;Description automatically generated">
            <a:extLst>
              <a:ext uri="{FF2B5EF4-FFF2-40B4-BE49-F238E27FC236}">
                <a16:creationId xmlns:a16="http://schemas.microsoft.com/office/drawing/2014/main" id="{37B4AB19-A1B3-B76E-4616-A330F04908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09" y="3745941"/>
            <a:ext cx="7103086" cy="1094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7206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7EE33-3BED-3AF9-47B5-25B75D599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01282"/>
          </a:xfrm>
        </p:spPr>
        <p:txBody>
          <a:bodyPr/>
          <a:lstStyle/>
          <a:p>
            <a:r>
              <a:rPr lang="en-US" dirty="0"/>
              <a:t>IFNULL (column, default-value)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2314C-915B-15F5-732F-4ECF895DFC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6408"/>
            <a:ext cx="10515600" cy="46105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SELECT </a:t>
            </a:r>
            <a:r>
              <a:rPr lang="en-US" dirty="0" err="1"/>
              <a:t>firstName,lastName</a:t>
            </a:r>
            <a:r>
              <a:rPr lang="en-US" dirty="0"/>
              <a:t>, IFNULL(</a:t>
            </a:r>
            <a:r>
              <a:rPr lang="en-US" dirty="0" err="1"/>
              <a:t>email,'no</a:t>
            </a:r>
            <a:r>
              <a:rPr lang="en-US" dirty="0"/>
              <a:t> email') AS email FROM customer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AFAB30E2-ED82-15A3-94AE-CAC506F4F3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449" y="2913496"/>
            <a:ext cx="4195041" cy="2142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0489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7719F-D364-6CD4-8FDE-163B5CAC9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Set Operations: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63237A-4399-D8BA-541D-4F0F657188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UNION ALL</a:t>
            </a:r>
          </a:p>
          <a:p>
            <a:r>
              <a:rPr lang="en-US" sz="2800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UNION DISTINCT </a:t>
            </a:r>
          </a:p>
          <a:p>
            <a:r>
              <a:rPr lang="en-US" sz="2800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INTERSECT</a:t>
            </a:r>
          </a:p>
          <a:p>
            <a:r>
              <a:rPr lang="en-US" sz="2800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EXCEPT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19267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1833F-A16F-6B79-8843-9F4AF5FC1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UNION</a:t>
            </a:r>
            <a:br>
              <a:rPr lang="en-US" sz="4400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DBEE7F-716B-9F5D-0376-F2B0C51254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UNION operator is used to combine the results of two or more SELECT statements.</a:t>
            </a:r>
          </a:p>
          <a:p>
            <a:r>
              <a:rPr lang="en-US" dirty="0"/>
              <a:t>Every SELECT statement within the UNION must have the same number of columns and they must have compatible data types.</a:t>
            </a:r>
          </a:p>
          <a:p>
            <a:r>
              <a:rPr lang="en-US" dirty="0"/>
              <a:t>Columns must also be in the same order.</a:t>
            </a:r>
          </a:p>
        </p:txBody>
      </p:sp>
    </p:spTree>
    <p:extLst>
      <p:ext uri="{BB962C8B-B14F-4D97-AF65-F5344CB8AC3E}">
        <p14:creationId xmlns:p14="http://schemas.microsoft.com/office/powerpoint/2010/main" val="24179954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7F490-E1BB-CAB5-4320-F8BB7E288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UNION [DISTINCT] Example: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61DCD-81C0-DEC6-9D49-F9029F2BC3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select * from customer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union 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select * from </a:t>
            </a:r>
            <a:r>
              <a:rPr lang="en-US" sz="16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customer_new</a:t>
            </a:r>
            <a:r>
              <a:rPr lang="en-US" sz="16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91D28006-6CF5-3C7A-8A9F-C932913B75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630" y="3098712"/>
            <a:ext cx="5839640" cy="125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9099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ABA56-6A62-C121-F0CE-EACCA2FCD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2C1F9-20FA-EF90-66F0-CA07BCDA3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UNION ALL Example: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B312F-6EDC-64E3-07D0-65574F74EA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SELECT * FROM customer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union </a:t>
            </a:r>
          </a:p>
          <a:p>
            <a:pPr marL="0" indent="0">
              <a:buNone/>
            </a:pPr>
            <a:r>
              <a:rPr lang="en-US" sz="1600" b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SELECT * FROM customer</a:t>
            </a:r>
            <a:r>
              <a:rPr lang="en-US" sz="1600" b="0" dirty="0" err="1">
                <a:solidFill>
                  <a:srgbClr val="3367D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_new</a:t>
            </a:r>
            <a:r>
              <a:rPr lang="en-US" sz="1600" b="0" dirty="0">
                <a:solidFill>
                  <a:srgbClr val="3367D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764A9E87-2867-71BE-E1C9-600D01F7C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135169"/>
            <a:ext cx="5944430" cy="2048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4307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7A678-3B88-8C2C-3244-F4C1D32E1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INTERSECT.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6A54A-F46B-A9AB-937F-EB3ACF4214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6600" y="1460186"/>
            <a:ext cx="10515600" cy="464692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All the rows the two tables have in common.</a:t>
            </a:r>
          </a:p>
          <a:p>
            <a:pPr marL="0" indent="0">
              <a:buNone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SELECT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firstName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lastName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, email, address1, phone,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birthDate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, zip FROM customer</a:t>
            </a:r>
          </a:p>
          <a:p>
            <a:pPr marL="0" indent="0"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INTERSECT </a:t>
            </a:r>
          </a:p>
          <a:p>
            <a:pPr marL="0" indent="0"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SELECT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firstName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lastName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, email, address1, phone,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birthDate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, zip FROM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customer_new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marL="0" indent="0">
              <a:buNone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12F1F2A3-C3D1-C1ED-C8DC-DA541B5C5F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041718"/>
            <a:ext cx="4925112" cy="819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3711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5CE30B-09D6-C11D-8254-F00C6884E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BD875-AB98-708A-5D88-D3B8836A0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EXCEPT.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1A1720-F1CD-8A2C-A4D5-6FDF87BFBA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6600" y="1460186"/>
            <a:ext cx="10515600" cy="464692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1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The </a:t>
            </a:r>
            <a:r>
              <a:rPr lang="en-US" sz="11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EXCEPT</a:t>
            </a:r>
            <a:r>
              <a:rPr lang="en-US" sz="11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operator in SQL is used to retrieve all the unique records from the first query, except the records that are present in the result set of the right operand (query).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SELECT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firstName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lastName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, email, address1, phone,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birthDate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, zip FROM customer</a:t>
            </a:r>
          </a:p>
          <a:p>
            <a:pPr marL="0" indent="0"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EXCEPT </a:t>
            </a:r>
          </a:p>
          <a:p>
            <a:pPr marL="0" indent="0"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SELECT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firstName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lastName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, email, address1, phone,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birthDate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, zip FROM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customer_new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marL="0" indent="0">
              <a:buNone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BC0B0826-00C7-3224-E8B1-7CD2960980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429000"/>
            <a:ext cx="8956730" cy="1162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3472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54E6B-3AF4-7271-4A86-EBB5B9E18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E0BB6-5D82-3539-637B-25030AEC2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EXCEPT (flip it).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005693-0C79-0FA5-DE84-B56DCA87C5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6600" y="1460186"/>
            <a:ext cx="10515600" cy="464692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1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The </a:t>
            </a:r>
            <a:r>
              <a:rPr lang="en-US" sz="11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EXCEPT</a:t>
            </a:r>
            <a:r>
              <a:rPr lang="en-US" sz="11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operator in SQL is used to retrieve all the unique records from the first query, except the records that are present in the result set of the right operand (query).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SELECT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firstName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lastName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, email, address1, phone,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birthDate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, zip FROM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customer_new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EXCEPT </a:t>
            </a:r>
          </a:p>
          <a:p>
            <a:pPr marL="0" indent="0"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SELECT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firstName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lastName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, email, address1, phone,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birthDate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, zip FROM customer;</a:t>
            </a:r>
          </a:p>
          <a:p>
            <a:pPr marL="0" indent="0">
              <a:buNone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9B75083C-7CE5-A74E-8D87-1D3A11327A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45" y="3474979"/>
            <a:ext cx="8176791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9514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6A7EC-B5E7-09D4-2A0F-49D73C180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3210E-841E-9189-DC4E-EE21320E91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Leave your questions in the comment section.</a:t>
            </a:r>
          </a:p>
          <a:p>
            <a:r>
              <a:rPr lang="en-US" dirty="0"/>
              <a:t>Please like and subscribe to my channel.</a:t>
            </a:r>
          </a:p>
          <a:p>
            <a:r>
              <a:rPr lang="en-US" dirty="0"/>
              <a:t>Find me online at </a:t>
            </a:r>
            <a:r>
              <a:rPr lang="en-US" dirty="0" err="1"/>
              <a:t>www.appjedi.net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59496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3823</TotalTime>
  <Words>898</Words>
  <Application>Microsoft Macintosh PowerPoint</Application>
  <PresentationFormat>Widescreen</PresentationFormat>
  <Paragraphs>140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Aptos</vt:lpstr>
      <vt:lpstr>Aptos Display</vt:lpstr>
      <vt:lpstr>Arial</vt:lpstr>
      <vt:lpstr>Roboto Mono</vt:lpstr>
      <vt:lpstr>Segoe UI</vt:lpstr>
      <vt:lpstr>Symbol</vt:lpstr>
      <vt:lpstr>Verdana</vt:lpstr>
      <vt:lpstr>Office Theme</vt:lpstr>
      <vt:lpstr>Introduction to SQL: Structured Query Language By AppJedi</vt:lpstr>
      <vt:lpstr>Review Syllabus.</vt:lpstr>
      <vt:lpstr>SQL Comparison Operator</vt:lpstr>
      <vt:lpstr>SQL =</vt:lpstr>
      <vt:lpstr>SQL Logical Operators </vt:lpstr>
      <vt:lpstr>BETWEEN</vt:lpstr>
      <vt:lpstr>IN</vt:lpstr>
      <vt:lpstr>NOT IN</vt:lpstr>
      <vt:lpstr>BETWEEN &amp; NOT IN compound condition.</vt:lpstr>
      <vt:lpstr>EXISTS</vt:lpstr>
      <vt:lpstr>SQL Arithmetic Operators</vt:lpstr>
      <vt:lpstr>Example: Substraction (-)</vt:lpstr>
      <vt:lpstr>NULL values &amp; SQL Null Functions:</vt:lpstr>
      <vt:lpstr>What is a NULL value?</vt:lpstr>
      <vt:lpstr>IFNULL (column, default-value)</vt:lpstr>
      <vt:lpstr>Set Operations:</vt:lpstr>
      <vt:lpstr>UNION </vt:lpstr>
      <vt:lpstr>UNION [DISTINCT] Example:</vt:lpstr>
      <vt:lpstr>UNION ALL Example:</vt:lpstr>
      <vt:lpstr>INTERSECT.</vt:lpstr>
      <vt:lpstr>EXCEPT.</vt:lpstr>
      <vt:lpstr>EXCEPT (flip it).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SQL: Structured Query Language </dc:title>
  <dc:creator>Robert Timlin</dc:creator>
  <cp:lastModifiedBy>Bob Timlin</cp:lastModifiedBy>
  <cp:revision>200</cp:revision>
  <dcterms:created xsi:type="dcterms:W3CDTF">2024-04-28T18:01:14Z</dcterms:created>
  <dcterms:modified xsi:type="dcterms:W3CDTF">2026-06-23T21:59:33Z</dcterms:modified>
</cp:coreProperties>
</file>