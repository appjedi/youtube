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75" r:id="rId4"/>
    <p:sldId id="277" r:id="rId5"/>
    <p:sldId id="278" r:id="rId6"/>
    <p:sldId id="276" r:id="rId7"/>
    <p:sldId id="291" r:id="rId8"/>
    <p:sldId id="279" r:id="rId9"/>
    <p:sldId id="292" r:id="rId10"/>
    <p:sldId id="304" r:id="rId11"/>
    <p:sldId id="280" r:id="rId12"/>
    <p:sldId id="293" r:id="rId13"/>
    <p:sldId id="286" r:id="rId14"/>
    <p:sldId id="287" r:id="rId15"/>
    <p:sldId id="294" r:id="rId16"/>
    <p:sldId id="295" r:id="rId17"/>
    <p:sldId id="269" r:id="rId18"/>
    <p:sldId id="298" r:id="rId19"/>
    <p:sldId id="282" r:id="rId20"/>
    <p:sldId id="289" r:id="rId21"/>
    <p:sldId id="258" r:id="rId22"/>
    <p:sldId id="299" r:id="rId23"/>
    <p:sldId id="303" r:id="rId24"/>
    <p:sldId id="301" r:id="rId25"/>
    <p:sldId id="300" r:id="rId26"/>
    <p:sldId id="302" r:id="rId27"/>
    <p:sldId id="266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/>
    <p:restoredTop sz="94569"/>
  </p:normalViewPr>
  <p:slideViewPr>
    <p:cSldViewPr snapToGrid="0">
      <p:cViewPr varScale="1">
        <p:scale>
          <a:sx n="140" d="100"/>
          <a:sy n="140" d="100"/>
        </p:scale>
        <p:origin x="12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43D54-AA7E-D90F-3586-D3380A0AC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13392-A6D8-8A9A-5B1A-89D0CEAFC2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782B62-6F22-6541-CFAA-CC55D442E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01AB14-5AEA-95FA-BAB4-7DEF457FE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6ADA9-4893-8088-D348-68B24C3C1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04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726CD-D767-86C8-2394-DDF48DA8F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45CD-9C9D-0B95-8443-0608D9B82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61A69-2FE5-CEE9-157E-32CBB6054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8C2BBC-5A09-2309-8D77-A99496D0C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F9FFA-F258-048F-E992-185E942E4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852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FE938-37AB-C6B7-456F-30EE91A6B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3C32EB-8BF5-606E-8C7D-AD7D8F344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CFC86-6252-087F-8C25-1D483163C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D80D46-51B4-94B0-12C9-DAD3AE2C8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25DE5-9809-58A2-3B32-5AA0F199F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394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41E26-CCEC-93E6-197D-FEF33B5F3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BC709-CD84-2094-F3D6-D7A908527C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A9D804-53C1-08E3-B194-1FA9162EC1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94DE21-9732-A8D7-D331-9ACE4FB29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27555C-20BC-DD34-B048-475189CB1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C182C-725B-4640-E69A-3F165A492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591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39ABC-AC97-116D-AE44-FFD71A67E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2C0BF-F429-069C-3396-FD7BC2D515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EB9A43-5C2E-6EB2-2496-1AEF8329DD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4ABF84-A49F-51A2-E67F-8B37B567C4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FB8A4F-4407-EC27-F9B4-D21C01584F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963B5C-6CE3-3645-A846-4B8036E6C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94AC47-7292-A2E2-2658-2DB256FE5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8AD898-6906-0DBB-6E8F-6D34586AC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245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E00D9-3FED-47E8-AD53-16AD24CE8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DAC3F6-E83D-0EDA-0862-F335B4153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72A0DD-CC45-D711-F1A4-181907BAE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EC8BF-6127-49B1-8380-AF73744D3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422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1B0EE-6FC2-AB80-3240-AAE6C3FC5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D23F59-213A-1BF0-9AA6-F2C913FE0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E96D9-899F-551B-65BE-7B4E1ED6B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221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0CC06-6EFF-4EDB-DD08-7B0D063D9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F3C9E-0F80-D19A-069D-405ECA65E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FF9169-03E3-BC7A-9682-BD407B02A9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ABC0A-66D8-02C7-3BAF-924D32D00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F14A76-997C-AE1F-C921-07FEDF20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A3DA3-4D14-38FA-8CC5-556174AF5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724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CBBBF-2CB4-3F34-5737-7614273E6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4FB187-FEEF-22E9-919C-482781C1F6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74513B-BEC5-BB71-EE93-6A5FC52FDB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A3387-F61E-E77F-D03F-30F71BD99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FA0032-D63B-70DD-3F17-BC7632E7B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940381-4D89-B8BD-11A7-AD2DAC58E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0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4FC17-4E8C-DDF4-3AA2-DA21D55A2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A5F918-6896-6622-F48D-25D95AE73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5D86B-33E6-338E-675A-E3F7E55A5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27C20-AF90-8348-77AC-AE0EC5EFB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D0019C-5204-963A-92E8-7A883AB01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821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C7E3D1-4C5B-026B-7ABE-A87B2A3DCE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94098A-3F10-AB09-1E83-69FEBFE8A2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8F634-D23A-575E-07A1-FF19A08D8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EC636-6195-BB1F-AF5E-F247261D6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6C9DF-F64D-5417-933C-6B9BD4DBC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83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589D09-8527-678A-6C39-A17455C1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83333A-C5EB-EA4E-279B-83297DB20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B9A7C2-D2E7-47CD-587D-5152164B7E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6598D6-C04D-9446-A58F-36E01C46C34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E038E2-3DB6-4914-2BC5-46ABF16470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1D074B-7154-5DC6-A287-48FCEBE404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999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ppjedi.net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4C05E-F812-16EF-DBF3-07F16A9345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 to SQL: Structured Query Language</a:t>
            </a:r>
            <a:br>
              <a:rPr lang="en-US" dirty="0"/>
            </a:br>
            <a:r>
              <a:rPr lang="en-US" sz="4000" dirty="0"/>
              <a:t>By </a:t>
            </a:r>
            <a:r>
              <a:rPr lang="en-US" sz="4000"/>
              <a:t>AppJedi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4D1DB5-BA77-C674-7DEA-5C9C2BAC7B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Session Four</a:t>
            </a:r>
          </a:p>
          <a:p>
            <a:r>
              <a:rPr lang="en-US" dirty="0"/>
              <a:t>August 21, 2026</a:t>
            </a:r>
          </a:p>
        </p:txBody>
      </p:sp>
    </p:spTree>
    <p:extLst>
      <p:ext uri="{BB962C8B-B14F-4D97-AF65-F5344CB8AC3E}">
        <p14:creationId xmlns:p14="http://schemas.microsoft.com/office/powerpoint/2010/main" val="20459267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FFFBF-B745-4F05-CEBE-4054AD558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Syllabus.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E6D64-96DA-7CF2-3842-F404BE9695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800" b="1" u="sng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Goals: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Basic SELECT statement for data retrieval.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Where clause filter rows.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Using wild cards.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Specifying columns and column aliases.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Order by (Sorting).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Limiting number of rows.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SQL Operators: Arithmetic, Comparison, Logical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SQL Null Functions: 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Set Operations: UNION, UNION ALL, INTERSECT, EXCEPT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Sub queries.  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Primary &amp; Foreign Keys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Joins:  INNER, LEFT, RIGHT, SELF, OUTER.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Aggregates: COUNT, SUM, AVG, MIN, MAX.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Group By and Having (filter).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Views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US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Temp tables (with)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CASE statements.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Date functions.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String functions.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Numeric Functions.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Stored Procedures.</a:t>
            </a:r>
          </a:p>
        </p:txBody>
      </p:sp>
    </p:spTree>
    <p:extLst>
      <p:ext uri="{BB962C8B-B14F-4D97-AF65-F5344CB8AC3E}">
        <p14:creationId xmlns:p14="http://schemas.microsoft.com/office/powerpoint/2010/main" val="2890455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4BC39-BD8E-96DB-38C7-7A48786C8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F7E6DE-85CE-7952-20E7-BF6F98A2D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Calculate a value of a column on one or more rows.</a:t>
            </a:r>
          </a:p>
          <a:p>
            <a:endParaRPr lang="en-U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/>
              <a:t>COUNT: </a:t>
            </a:r>
            <a:r>
              <a:rPr lang="en-US" b="0" i="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Google Sans"/>
              </a:rPr>
              <a:t>counts how many rows are in a particular column.</a:t>
            </a:r>
            <a:endParaRPr lang="en-US" dirty="0"/>
          </a:p>
          <a:p>
            <a:r>
              <a:rPr lang="en-US" dirty="0"/>
              <a:t>AVG: </a:t>
            </a:r>
            <a:r>
              <a:rPr lang="en-US" b="0" i="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Google Sans"/>
              </a:rPr>
              <a:t>calculates the average of a group of selected values.</a:t>
            </a:r>
            <a:endParaRPr lang="en-US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/>
              <a:t>MIN: </a:t>
            </a:r>
            <a:r>
              <a:rPr lang="en-US" b="0" i="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Google Sans"/>
              </a:rPr>
              <a:t>return the lowest value in a particular column.</a:t>
            </a:r>
            <a:endParaRPr lang="en-US" dirty="0"/>
          </a:p>
          <a:p>
            <a:r>
              <a:rPr lang="en-US" dirty="0"/>
              <a:t>MAX: </a:t>
            </a:r>
            <a:r>
              <a:rPr lang="en-US" b="0" i="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Google Sans"/>
              </a:rPr>
              <a:t>return the highest value in a particular column</a:t>
            </a:r>
            <a:endParaRPr lang="en-US" dirty="0"/>
          </a:p>
          <a:p>
            <a:r>
              <a:rPr lang="en-US" dirty="0"/>
              <a:t>SUM: </a:t>
            </a:r>
            <a:r>
              <a:rPr lang="en-US" b="0" i="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Google Sans"/>
              </a:rPr>
              <a:t>adds together all the values in a particular column.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5505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A16D1-D44E-65EA-4E4A-9C7040DB6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0F510-CCCA-7175-E756-80246405C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050" y="169068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SELECT AVG(columns)…</a:t>
            </a:r>
          </a:p>
          <a:p>
            <a:pPr marL="0" indent="0">
              <a:buNone/>
            </a:pPr>
            <a:r>
              <a:rPr lang="en-US" dirty="0"/>
              <a:t>FROM table</a:t>
            </a:r>
          </a:p>
          <a:p>
            <a:pPr marL="0" indent="0">
              <a:buNone/>
            </a:pPr>
            <a:r>
              <a:rPr lang="en-US" dirty="0"/>
              <a:t>WHERE Boolean-expression</a:t>
            </a:r>
          </a:p>
          <a:p>
            <a:pPr marL="0" indent="0">
              <a:buNone/>
            </a:pPr>
            <a:r>
              <a:rPr lang="en-US" dirty="0"/>
              <a:t>GROUP BY columns…</a:t>
            </a:r>
          </a:p>
          <a:p>
            <a:pPr marL="0" indent="0">
              <a:buNone/>
            </a:pPr>
            <a:r>
              <a:rPr lang="en-US" dirty="0"/>
              <a:t>HAVING Boolean-expression</a:t>
            </a:r>
          </a:p>
          <a:p>
            <a:pPr marL="0" indent="0">
              <a:buNone/>
            </a:pPr>
            <a:r>
              <a:rPr lang="en-US" dirty="0"/>
              <a:t>ORDER BY columns…</a:t>
            </a:r>
          </a:p>
        </p:txBody>
      </p:sp>
    </p:spTree>
    <p:extLst>
      <p:ext uri="{BB962C8B-B14F-4D97-AF65-F5344CB8AC3E}">
        <p14:creationId xmlns:p14="http://schemas.microsoft.com/office/powerpoint/2010/main" val="7836942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A16D1-D44E-65EA-4E4A-9C7040DB6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(* | column)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0F510-CCCA-7175-E756-80246405C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389" y="169068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</a:t>
            </a:r>
            <a:r>
              <a:rPr lang="en-US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COUNT(</a:t>
            </a:r>
            <a:r>
              <a:rPr lang="en-US" b="0" dirty="0">
                <a:solidFill>
                  <a:srgbClr val="37474F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*)</a:t>
            </a:r>
            <a:r>
              <a:rPr lang="en-US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table</a:t>
            </a:r>
          </a:p>
          <a:p>
            <a:pPr marL="0" indent="0">
              <a:buNone/>
            </a:pPr>
            <a:endParaRPr lang="en-US" dirty="0">
              <a:solidFill>
                <a:srgbClr val="3367D6"/>
              </a:solidFill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</a:t>
            </a:r>
            <a:r>
              <a:rPr lang="en-US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COUNT(</a:t>
            </a:r>
            <a:r>
              <a:rPr lang="en-US" b="0" dirty="0">
                <a:solidFill>
                  <a:srgbClr val="37474F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*) AS </a:t>
            </a:r>
            <a:r>
              <a:rPr lang="en-US" b="0" dirty="0" err="1">
                <a:solidFill>
                  <a:srgbClr val="37474F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cnt</a:t>
            </a:r>
            <a:r>
              <a:rPr lang="en-US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customer;</a:t>
            </a:r>
            <a:endParaRPr lang="en-US" dirty="0">
              <a:solidFill>
                <a:srgbClr val="37474F"/>
              </a:solidFill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b="0" dirty="0">
              <a:solidFill>
                <a:srgbClr val="37474F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endParaRPr lang="en-US" dirty="0"/>
          </a:p>
        </p:txBody>
      </p:sp>
      <p:pic>
        <p:nvPicPr>
          <p:cNvPr id="8" name="Picture 7" descr="A screenshot of a calendar&#10;&#10;Description automatically generated">
            <a:extLst>
              <a:ext uri="{FF2B5EF4-FFF2-40B4-BE49-F238E27FC236}">
                <a16:creationId xmlns:a16="http://schemas.microsoft.com/office/drawing/2014/main" id="{3B488FDE-9F4F-4265-AA1E-DB2F057AF0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477" y="3403827"/>
            <a:ext cx="1777093" cy="1404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560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7E77E-F1B6-8AF6-FCEF-4A59A0C40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78293-306C-DBD0-96CC-7C74C8740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SELECT MIN(column) FROM Table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</a:t>
            </a:r>
            <a:r>
              <a:rPr lang="en-US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MIN</a:t>
            </a:r>
            <a:r>
              <a:rPr lang="en-US" b="0" dirty="0">
                <a:solidFill>
                  <a:srgbClr val="37474F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(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price</a:t>
            </a:r>
            <a:r>
              <a:rPr lang="en-US" b="0" dirty="0">
                <a:solidFill>
                  <a:srgbClr val="37474F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</a:t>
            </a:r>
            <a:r>
              <a:rPr lang="en-US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items;</a:t>
            </a:r>
            <a:r>
              <a:rPr lang="en-US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 descr="A screenshot of a phone&#10;&#10;Description automatically generated">
            <a:extLst>
              <a:ext uri="{FF2B5EF4-FFF2-40B4-BE49-F238E27FC236}">
                <a16:creationId xmlns:a16="http://schemas.microsoft.com/office/drawing/2014/main" id="{E87ABAE8-E999-8BE4-00DA-510B6F966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979" y="3563144"/>
            <a:ext cx="18161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8424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7E77E-F1B6-8AF6-FCEF-4A59A0C40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78293-306C-DBD0-96CC-7C74C8740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SELECT MAX(column) FROM {Table}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MAX(price) FROM items; </a:t>
            </a:r>
            <a:endParaRPr lang="en-US" dirty="0">
              <a:solidFill>
                <a:srgbClr val="0D904F"/>
              </a:solidFill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dirty="0">
              <a:solidFill>
                <a:srgbClr val="0D904F"/>
              </a:solidFill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dirty="0">
              <a:solidFill>
                <a:srgbClr val="0D904F"/>
              </a:solidFill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DB41EA-4A01-E479-F127-1B0E7B2BB1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007" y="3428999"/>
            <a:ext cx="1962928" cy="1110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646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6BB-69D0-7220-FB4A-DE83D4A01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A792E-DFB2-6277-D807-7ACC42733D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SELECT AVG(column) FROM table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0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AVG(price) FROM items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 descr="A screenshot of a phone&#10;&#10;Description automatically generated">
            <a:extLst>
              <a:ext uri="{FF2B5EF4-FFF2-40B4-BE49-F238E27FC236}">
                <a16:creationId xmlns:a16="http://schemas.microsoft.com/office/drawing/2014/main" id="{9CB670B1-1A1E-ED5B-60B3-D719CCDAD4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7450" y="3290093"/>
            <a:ext cx="2642752" cy="1020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8621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6BB-69D0-7220-FB4A-DE83D4A01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A792E-DFB2-6277-D807-7ACC42733D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SELECT SUM(column) FROM table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SUM(price) FROM items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 descr="A screenshot of a phone&#10;&#10;Description automatically generated">
            <a:extLst>
              <a:ext uri="{FF2B5EF4-FFF2-40B4-BE49-F238E27FC236}">
                <a16:creationId xmlns:a16="http://schemas.microsoft.com/office/drawing/2014/main" id="{987F8D96-822F-4D97-0BB4-7F6217291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253" y="3691895"/>
            <a:ext cx="1902153" cy="1191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3331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890B4-726E-9A51-8B38-AB479A11B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CDD38-66CD-87B5-9F24-8C9D4154B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432" y="1569593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SELECT COUNT(*) AS </a:t>
            </a:r>
            <a:r>
              <a:rPr lang="en-US" sz="2400" dirty="0" err="1"/>
              <a:t>total_rows</a:t>
            </a:r>
            <a:r>
              <a:rPr lang="en-US" sz="2400" dirty="0"/>
              <a:t>,</a:t>
            </a:r>
          </a:p>
          <a:p>
            <a:pPr marL="0" indent="0">
              <a:buNone/>
            </a:pPr>
            <a:r>
              <a:rPr lang="en-US" sz="2400" dirty="0"/>
              <a:t>	MIN(price) AS </a:t>
            </a:r>
            <a:r>
              <a:rPr lang="en-US" sz="2400" dirty="0" err="1"/>
              <a:t>min_price</a:t>
            </a:r>
            <a:r>
              <a:rPr lang="en-US" sz="2400" dirty="0"/>
              <a:t>,</a:t>
            </a:r>
          </a:p>
          <a:p>
            <a:pPr marL="0" indent="0">
              <a:buNone/>
            </a:pPr>
            <a:r>
              <a:rPr lang="en-US" sz="2400" dirty="0"/>
              <a:t>    MAX(price) AS </a:t>
            </a:r>
            <a:r>
              <a:rPr lang="en-US" sz="2400" dirty="0" err="1"/>
              <a:t>max_price</a:t>
            </a:r>
            <a:r>
              <a:rPr lang="en-US" sz="2400" dirty="0"/>
              <a:t>,</a:t>
            </a:r>
          </a:p>
          <a:p>
            <a:pPr marL="0" indent="0">
              <a:buNone/>
            </a:pPr>
            <a:r>
              <a:rPr lang="en-US" sz="2400" dirty="0"/>
              <a:t>    AVG(price) AS </a:t>
            </a:r>
            <a:r>
              <a:rPr lang="en-US" sz="2400" dirty="0" err="1"/>
              <a:t>avg_price</a:t>
            </a:r>
            <a:r>
              <a:rPr lang="en-US" sz="2400" dirty="0"/>
              <a:t>,</a:t>
            </a:r>
          </a:p>
          <a:p>
            <a:pPr marL="0" indent="0">
              <a:buNone/>
            </a:pPr>
            <a:r>
              <a:rPr lang="en-US" sz="2400" dirty="0"/>
              <a:t>	SUM(price) AS </a:t>
            </a:r>
            <a:r>
              <a:rPr lang="en-US" sz="2400" dirty="0" err="1"/>
              <a:t>sum_price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FROM items; </a:t>
            </a:r>
          </a:p>
          <a:p>
            <a:endParaRPr lang="en-US" dirty="0"/>
          </a:p>
        </p:txBody>
      </p:sp>
      <p:pic>
        <p:nvPicPr>
          <p:cNvPr id="5" name="Picture 4" descr="A screenshot of a phone&#10;&#10;Description automatically generated">
            <a:extLst>
              <a:ext uri="{FF2B5EF4-FFF2-40B4-BE49-F238E27FC236}">
                <a16:creationId xmlns:a16="http://schemas.microsoft.com/office/drawing/2014/main" id="{B3737EA5-8C70-713C-FA00-F8D34494F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613" y="4874136"/>
            <a:ext cx="6088056" cy="961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6449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64230-0341-8A29-DB54-40C0238D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Source Sans 3"/>
              </a:rPr>
              <a:t>More on COUNT and the effect of NULL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396F3-1146-5014-94F2-000DC8FEE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0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COUNT(*), COUNT(</a:t>
            </a:r>
            <a:r>
              <a:rPr lang="en-US" sz="20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dept_id</a:t>
            </a:r>
            <a:r>
              <a:rPr lang="en-US" sz="20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FROM employees;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E9B183EF-3AD9-B3A1-5C84-58FF5D5DCF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334" y="3067050"/>
            <a:ext cx="3217044" cy="1002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772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64230-0341-8A29-DB54-40C0238D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Source Sans 3"/>
              </a:rPr>
              <a:t>COUNT DISTINCT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396F3-1146-5014-94F2-000DC8FEE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COUNT(*),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367D6"/>
                </a:solidFill>
                <a:highlight>
                  <a:srgbClr val="FFFFFF"/>
                </a:highlight>
                <a:latin typeface="Roboto Mono" pitchFamily="49" charset="0"/>
              </a:rPr>
              <a:t>	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COUNT(DISTINCT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physical_state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),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367D6"/>
                </a:solidFill>
                <a:highlight>
                  <a:srgbClr val="FFFFFF"/>
                </a:highlight>
                <a:latin typeface="Roboto Mono" pitchFamily="49" charset="0"/>
              </a:rPr>
              <a:t>	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COUNT(DISTINCT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physical_city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zipcodes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;</a:t>
            </a:r>
            <a:endParaRPr lang="en-US" sz="1400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sz="1400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cell phone&#10;&#10;Description automatically generated">
            <a:extLst>
              <a:ext uri="{FF2B5EF4-FFF2-40B4-BE49-F238E27FC236}">
                <a16:creationId xmlns:a16="http://schemas.microsoft.com/office/drawing/2014/main" id="{B45EDAF6-5C04-0AAB-D813-02C4CD051A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40767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565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946E-50CA-3CA0-0C55-60D1973F2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VERIFY WITH SELECT DISTINCT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FC325-0A7E-B75C-A05F-775B7306F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3"/>
            <a:ext cx="10515600" cy="4209006"/>
          </a:xfrm>
        </p:spPr>
        <p:txBody>
          <a:bodyPr/>
          <a:lstStyle/>
          <a:p>
            <a:pPr marL="0" indent="0">
              <a:buNone/>
            </a:pPr>
            <a:r>
              <a:rPr lang="en-US" sz="20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COUNT(*), </a:t>
            </a:r>
          </a:p>
          <a:p>
            <a:pPr marL="457200" lvl="1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COUNT(DISTINCT type),</a:t>
            </a:r>
          </a:p>
          <a:p>
            <a:pPr marL="457200" lvl="1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COUNT(DISTINCT 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sku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products;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F4BD77FC-1FB2-0B63-CBC4-DA44F92EC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185214"/>
            <a:ext cx="4559300" cy="74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1473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946E-50CA-3CA0-0C55-60D1973F2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with WHERE clause: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FC325-0A7E-B75C-A05F-775B7306F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COUNT(*), </a:t>
            </a:r>
          </a:p>
          <a:p>
            <a:pPr marL="457200" lvl="1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COUNT(DISTINCT type),</a:t>
            </a:r>
          </a:p>
          <a:p>
            <a:pPr marL="457200" lvl="1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COUNT(DISTINCT 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sku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appjedin_student_temp.products</a:t>
            </a:r>
            <a:endParaRPr lang="en-US" sz="16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WHERE 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&gt;0 </a:t>
            </a:r>
            <a:endParaRPr lang="en-US" sz="1600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0FDA7217-48BF-0F9F-F3E4-2E88DB3732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503" y="3910792"/>
            <a:ext cx="4470400" cy="73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307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946E-50CA-3CA0-0C55-60D1973F2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with GROUP BY clause: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FC325-0A7E-B75C-A05F-775B7306F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categories,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367D6"/>
                </a:solidFill>
                <a:highlight>
                  <a:srgbClr val="FFFFFF"/>
                </a:highlight>
                <a:latin typeface="Roboto Mono" pitchFamily="49" charset="0"/>
              </a:rPr>
              <a:t>	</a:t>
            </a:r>
            <a:r>
              <a:rPr lang="en-US" sz="12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COUNT(*),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367D6"/>
                </a:solidFill>
                <a:highlight>
                  <a:srgbClr val="FFFFFF"/>
                </a:highlight>
                <a:latin typeface="Roboto Mono" pitchFamily="49" charset="0"/>
              </a:rPr>
              <a:t>	</a:t>
            </a:r>
            <a:r>
              <a:rPr lang="en-US" sz="12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COUNT(DISTINCT type),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3367D6"/>
                </a:solidFill>
                <a:highlight>
                  <a:srgbClr val="FFFFFF"/>
                </a:highlight>
                <a:latin typeface="Roboto Mono" pitchFamily="49" charset="0"/>
              </a:rPr>
              <a:t>	</a:t>
            </a:r>
            <a:r>
              <a:rPr lang="en-US" sz="12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COUNT(DISTINCT </a:t>
            </a:r>
            <a:r>
              <a:rPr lang="en-US" sz="12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sku</a:t>
            </a:r>
            <a:r>
              <a:rPr lang="en-US" sz="12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</a:t>
            </a:r>
          </a:p>
          <a:p>
            <a:pPr marL="0" indent="0">
              <a:buNone/>
            </a:pPr>
            <a:r>
              <a:rPr lang="en-US" sz="12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products</a:t>
            </a:r>
          </a:p>
          <a:p>
            <a:pPr marL="0" indent="0">
              <a:buNone/>
            </a:pPr>
            <a:r>
              <a:rPr lang="en-US" sz="12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GROUP BY categories</a:t>
            </a:r>
          </a:p>
          <a:p>
            <a:pPr marL="0" indent="0">
              <a:buNone/>
            </a:pPr>
            <a:r>
              <a:rPr lang="en-US" sz="1800" dirty="0"/>
              <a:t>Rule: Everything you GROUP BY must be in the SELECT line.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number&#10;&#10;Description automatically generated">
            <a:extLst>
              <a:ext uri="{FF2B5EF4-FFF2-40B4-BE49-F238E27FC236}">
                <a16:creationId xmlns:a16="http://schemas.microsoft.com/office/drawing/2014/main" id="{11EC82BB-E7F5-9810-B89F-FED1A9A95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3" y="4001294"/>
            <a:ext cx="5562600" cy="193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607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946E-50CA-3CA0-0C55-60D1973F2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with Column Aliases: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FC325-0A7E-B75C-A05F-775B7306F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SELECT categories,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367D6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COUNT(*) AS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cnt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367D6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COUNT(DISTINCT type) AS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count_type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367D6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COUNT(DISTINCT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sku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) AS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count_sky</a:t>
            </a:r>
            <a:endParaRPr lang="en-US" sz="14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FROM products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GROUP BY categories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F6E39A80-D7D1-494B-BAB0-D72BBAE2B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001294"/>
            <a:ext cx="3746500" cy="180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8502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A7530-AC4D-1521-ACDE-BD36DDAD8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BY multiple columns: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5537D2-A1A9-7A39-5022-F96EA774F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0894"/>
            <a:ext cx="10515600" cy="4751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SELECT `type`,</a:t>
            </a:r>
            <a:r>
              <a:rPr lang="en-US" sz="1600" dirty="0" err="1">
                <a:latin typeface="Aptos" panose="020B0004020202020204" pitchFamily="34" charset="0"/>
                <a:cs typeface="Times New Roman" panose="02020603050405020304" pitchFamily="18" charset="0"/>
              </a:rPr>
              <a:t>ShortDescription</a:t>
            </a: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, </a:t>
            </a:r>
          </a:p>
          <a:p>
            <a:pPr marL="0" indent="0">
              <a:buNone/>
            </a:pP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	COUNT(*) AS `Total Sales by group`, </a:t>
            </a:r>
          </a:p>
          <a:p>
            <a:pPr marL="0" indent="0">
              <a:buNone/>
            </a:pP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	SUM(</a:t>
            </a:r>
            <a:r>
              <a:rPr lang="en-US" sz="1600" dirty="0" err="1">
                <a:latin typeface="Aptos" panose="020B0004020202020204" pitchFamily="34" charset="0"/>
                <a:cs typeface="Times New Roman" panose="02020603050405020304" pitchFamily="18" charset="0"/>
              </a:rPr>
              <a:t>SalePrice</a:t>
            </a: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) AS `Total Sales Price`, </a:t>
            </a:r>
          </a:p>
          <a:p>
            <a:pPr marL="0" indent="0">
              <a:buNone/>
            </a:pP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    AVG(</a:t>
            </a:r>
            <a:r>
              <a:rPr lang="en-US" sz="1600" dirty="0" err="1">
                <a:latin typeface="Aptos" panose="020B0004020202020204" pitchFamily="34" charset="0"/>
                <a:cs typeface="Times New Roman" panose="02020603050405020304" pitchFamily="18" charset="0"/>
              </a:rPr>
              <a:t>SalePrice</a:t>
            </a: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) AS `Average Sale Price`, </a:t>
            </a:r>
          </a:p>
          <a:p>
            <a:pPr marL="0" indent="0">
              <a:buNone/>
            </a:pP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    MIN(</a:t>
            </a:r>
            <a:r>
              <a:rPr lang="en-US" sz="1600" dirty="0" err="1">
                <a:latin typeface="Aptos" panose="020B0004020202020204" pitchFamily="34" charset="0"/>
                <a:cs typeface="Times New Roman" panose="02020603050405020304" pitchFamily="18" charset="0"/>
              </a:rPr>
              <a:t>SalePrice</a:t>
            </a: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) AS `Min Sale Price`, </a:t>
            </a:r>
          </a:p>
          <a:p>
            <a:pPr marL="0" indent="0">
              <a:buNone/>
            </a:pP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    MAX(</a:t>
            </a:r>
            <a:r>
              <a:rPr lang="en-US" sz="1600" dirty="0" err="1">
                <a:latin typeface="Aptos" panose="020B0004020202020204" pitchFamily="34" charset="0"/>
                <a:cs typeface="Times New Roman" panose="02020603050405020304" pitchFamily="18" charset="0"/>
              </a:rPr>
              <a:t>SalePrice</a:t>
            </a: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) AS `Max Sale Price`</a:t>
            </a:r>
          </a:p>
          <a:p>
            <a:pPr marL="0" indent="0">
              <a:buNone/>
            </a:pP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FROM </a:t>
            </a:r>
            <a:r>
              <a:rPr lang="en-US" sz="1600" dirty="0" err="1">
                <a:latin typeface="Aptos" panose="020B0004020202020204" pitchFamily="34" charset="0"/>
                <a:cs typeface="Times New Roman" panose="02020603050405020304" pitchFamily="18" charset="0"/>
              </a:rPr>
              <a:t>appjedin_student_temp.products</a:t>
            </a:r>
            <a:endParaRPr lang="en-US" sz="1600" dirty="0">
              <a:latin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GROUP BY `type`,</a:t>
            </a:r>
            <a:r>
              <a:rPr lang="en-US" sz="1600" dirty="0" err="1">
                <a:latin typeface="Aptos" panose="020B0004020202020204" pitchFamily="34" charset="0"/>
                <a:cs typeface="Times New Roman" panose="02020603050405020304" pitchFamily="18" charset="0"/>
              </a:rPr>
              <a:t>ShortDescription</a:t>
            </a:r>
            <a:r>
              <a:rPr lang="en-US" sz="1600" dirty="0">
                <a:latin typeface="Aptos" panose="020B0004020202020204" pitchFamily="34" charset="0"/>
                <a:cs typeface="Times New Roman" panose="02020603050405020304" pitchFamily="18" charset="0"/>
              </a:rPr>
              <a:t>;</a:t>
            </a:r>
          </a:p>
        </p:txBody>
      </p:sp>
      <p:pic>
        <p:nvPicPr>
          <p:cNvPr id="6" name="Picture 5" descr="A screenshot of a graph&#10;&#10;Description automatically generated">
            <a:extLst>
              <a:ext uri="{FF2B5EF4-FFF2-40B4-BE49-F238E27FC236}">
                <a16:creationId xmlns:a16="http://schemas.microsoft.com/office/drawing/2014/main" id="{19DD08A7-344B-0DF6-FF3D-93D9638C19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396994"/>
            <a:ext cx="10699604" cy="1820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5396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F21CE-D03A-905B-3677-BF1E1EF0A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86050-2098-379A-50CE-822DAEFBBA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0723" y="1575631"/>
            <a:ext cx="10515600" cy="44862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HAVING is like a WHERE clause for GROUPS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`type`,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COUNT(*) AS `Total Sales by group`, 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SUM(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`Total Sales Price`, 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AVG(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`Average Sale Price`, 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MIN(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`Min Sale Price`, 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MAX(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`Max Sale Price`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appjedin_student_temp.products</a:t>
            </a:r>
            <a:endParaRPr lang="en-US" sz="18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GROUP BY `type`,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endParaRPr lang="en-US" sz="18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HAVING COUNT(*) &gt;2;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833788-4144-7B50-3199-046AECDBD0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2286" y="5164643"/>
            <a:ext cx="7772400" cy="89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7391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C906A-3D22-8E18-74F2-2B8C4F3EB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HAVING vs. WHERE 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B6B39-D394-F7AD-CF62-364C523B0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3A474E"/>
                </a:solidFill>
                <a:highlight>
                  <a:srgbClr val="FFFFFF"/>
                </a:highlight>
                <a:latin typeface="Roboto Mono" pitchFamily="49" charset="0"/>
              </a:rPr>
              <a:t>WHERE clause filters rows of data.</a:t>
            </a:r>
          </a:p>
          <a:p>
            <a:pPr marL="0" indent="0">
              <a:buNone/>
            </a:pPr>
            <a:r>
              <a:rPr lang="en-US" sz="1900" dirty="0">
                <a:solidFill>
                  <a:srgbClr val="3A474E"/>
                </a:solidFill>
                <a:highlight>
                  <a:srgbClr val="FFFFFF"/>
                </a:highlight>
                <a:latin typeface="Roboto Mono" pitchFamily="49" charset="0"/>
              </a:rPr>
              <a:t>HAVING clause filters groups of data.</a:t>
            </a:r>
          </a:p>
          <a:p>
            <a:pPr marL="0" indent="0">
              <a:buNone/>
            </a:pPr>
            <a:endParaRPr lang="en-US" sz="1900" dirty="0">
              <a:solidFill>
                <a:srgbClr val="3A474E"/>
              </a:solidFill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`type`,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3367D6"/>
                </a:solidFill>
                <a:highlight>
                  <a:srgbClr val="FFFFFF"/>
                </a:highlight>
                <a:latin typeface="Roboto Mono" pitchFamily="49" charset="0"/>
              </a:rPr>
              <a:t>	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COUNT(*) AS `Total Sales by group`, 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SUM(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`Total Sales Price`, 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AVG(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`Average Sale Price`, 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MIN(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`Min Sale Price`, 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MAX(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`Max Sale Price`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appjedin_student_temp.products</a:t>
            </a:r>
            <a:endParaRPr lang="en-US" sz="14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WHERE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&gt;0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GROUP BY `type`,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endParaRPr lang="en-US" sz="1900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5034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7E8E5-45DF-C9C7-B70A-90F8D8BAA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HAVING vs. WHERE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108DD-B6E0-F15E-B9E0-420CB1995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A5DE47-E13E-64C4-0121-FCC1EF01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40" y="3351522"/>
            <a:ext cx="10122519" cy="116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7995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4A622-D9C9-F7B5-7EC2-1F91B12F4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HAVING vs. WHERE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A84D7-D7F8-16EC-EB73-701D560A23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169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`type`,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COUNT(*) AS `Total Sales by group`,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SUM(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`Total Sales Price`,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AVG(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`Average Sale Price`,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MIN(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`Min Sale Price`,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MAX(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`Max Sale Price`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appjedin_student_temp.products</a:t>
            </a:r>
            <a:endParaRPr lang="en-US" sz="16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GROUP BY `type`,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endParaRPr lang="en-US" sz="16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HAVING SUM(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)&gt;0</a:t>
            </a:r>
            <a:endParaRPr lang="en-US" dirty="0"/>
          </a:p>
        </p:txBody>
      </p:sp>
      <p:pic>
        <p:nvPicPr>
          <p:cNvPr id="5" name="Picture 4" descr="A screenshot of a white sheet&#10;&#10;Description automatically generated">
            <a:extLst>
              <a:ext uri="{FF2B5EF4-FFF2-40B4-BE49-F238E27FC236}">
                <a16:creationId xmlns:a16="http://schemas.microsoft.com/office/drawing/2014/main" id="{1D3EA0F1-24A7-DC12-08ED-BBA5E5E391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060" y="4767232"/>
            <a:ext cx="9189212" cy="1145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7752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4A622-D9C9-F7B5-7EC2-1F91B12F4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Simplifying it with views.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A84D7-D7F8-16EC-EB73-701D560A23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0" i="0" dirty="0">
                <a:solidFill>
                  <a:srgbClr val="474747"/>
                </a:solidFill>
                <a:effectLst/>
                <a:latin typeface="Roboto" panose="02000000000000000000" pitchFamily="2" charset="0"/>
              </a:rPr>
              <a:t>In SQL, a view is </a:t>
            </a:r>
            <a:r>
              <a:rPr lang="en-US" b="1" i="0" dirty="0">
                <a:solidFill>
                  <a:srgbClr val="767676"/>
                </a:solidFill>
                <a:effectLst/>
                <a:latin typeface="Roboto" panose="02000000000000000000" pitchFamily="2" charset="0"/>
              </a:rPr>
              <a:t>a virtual table based on the result-set of an SQL statement</a:t>
            </a:r>
            <a:r>
              <a:rPr lang="en-US" b="0" i="0" dirty="0">
                <a:solidFill>
                  <a:srgbClr val="474747"/>
                </a:solidFill>
                <a:effectLst/>
                <a:latin typeface="Roboto" panose="02000000000000000000" pitchFamily="2" charset="0"/>
              </a:rPr>
              <a:t>. A view contains rows and columns, just like a real table</a:t>
            </a:r>
          </a:p>
          <a:p>
            <a:pPr marL="0" indent="0">
              <a:buNone/>
            </a:pPr>
            <a:endParaRPr lang="en-US" dirty="0">
              <a:solidFill>
                <a:srgbClr val="474747"/>
              </a:solidFill>
              <a:latin typeface="Roboto" panose="02000000000000000000" pitchFamily="2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474747"/>
                </a:solidFill>
                <a:latin typeface="Roboto" panose="02000000000000000000" pitchFamily="2" charset="0"/>
              </a:rPr>
              <a:t>The SQL statement is saved under the view name but not the data.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88439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DFCA2-AD7D-AC6C-6EA9-760506866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C1716-3AF0-56C1-5C84-30E06F17B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5BD96-3386-7AC0-4412-5DD445097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CREATE VIEW </a:t>
            </a:r>
            <a:r>
              <a:rPr lang="en-US" sz="1100" b="0" dirty="0" err="1">
                <a:solidFill>
                  <a:srgbClr val="0D904F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view_sales_report</a:t>
            </a:r>
            <a:r>
              <a:rPr lang="en-US" sz="1100" b="0" dirty="0">
                <a:solidFill>
                  <a:srgbClr val="0D904F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r>
              <a:rPr lang="en-US" sz="11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AS</a:t>
            </a:r>
            <a:endParaRPr lang="en-US" sz="1600" b="0" dirty="0">
              <a:solidFill>
                <a:srgbClr val="3367D6"/>
              </a:solidFill>
              <a:effectLst/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`type`,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COUNT(*) AS `Total Sales by group`,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SUM(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`Total Sales Price`,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AVG(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`Average Sale Price`,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MIN(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`Min Sale Price`,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MAX(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`Max Sale Price`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appjedin_student_temp.products</a:t>
            </a:r>
            <a:endParaRPr lang="en-US" sz="16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GROUP BY `type`,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endParaRPr lang="en-US" sz="16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HAVING SUM(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)&gt;0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3926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AEB37-896A-870C-45DB-14BA357F1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756E3-0AD7-4DEF-2615-CB449BEC01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SELECT * FROM </a:t>
            </a:r>
            <a:r>
              <a:rPr lang="en-US" dirty="0" err="1"/>
              <a:t>view_sales_report</a:t>
            </a:r>
            <a:r>
              <a:rPr lang="en-US" dirty="0"/>
              <a:t>;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B4108E-9C7D-373E-3B03-801C10987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49" y="2882900"/>
            <a:ext cx="10129733" cy="107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0427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357DD-A508-E74A-1087-F9FDF4C37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for Customer Purchases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652AB4-27B6-4A3E-85F4-E84B33F03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CREATE VIEW </a:t>
            </a:r>
            <a:r>
              <a:rPr lang="en-US" dirty="0" err="1"/>
              <a:t>view_customer_purchases</a:t>
            </a:r>
            <a:r>
              <a:rPr lang="en-US" dirty="0"/>
              <a:t> AS </a:t>
            </a:r>
          </a:p>
          <a:p>
            <a:pPr marL="0" indent="0">
              <a:buNone/>
            </a:pPr>
            <a:r>
              <a:rPr lang="en-US" dirty="0"/>
              <a:t>SELECT c.*, </a:t>
            </a:r>
            <a:r>
              <a:rPr lang="en-US" dirty="0" err="1"/>
              <a:t>city.city</a:t>
            </a:r>
            <a:r>
              <a:rPr lang="en-US" dirty="0"/>
              <a:t>, </a:t>
            </a:r>
            <a:r>
              <a:rPr lang="en-US" dirty="0" err="1"/>
              <a:t>city.state</a:t>
            </a:r>
            <a:r>
              <a:rPr lang="en-US" dirty="0"/>
              <a:t>, </a:t>
            </a:r>
            <a:r>
              <a:rPr lang="en-US" dirty="0" err="1"/>
              <a:t>o.datePlaced,o.dateShipped</a:t>
            </a:r>
            <a:r>
              <a:rPr lang="en-US" dirty="0"/>
              <a:t>, </a:t>
            </a:r>
            <a:r>
              <a:rPr lang="en-US" dirty="0" err="1"/>
              <a:t>o.status</a:t>
            </a:r>
            <a:r>
              <a:rPr lang="en-US" dirty="0"/>
              <a:t>, </a:t>
            </a:r>
            <a:r>
              <a:rPr lang="en-US" dirty="0" err="1"/>
              <a:t>ol.quantity</a:t>
            </a:r>
            <a:r>
              <a:rPr lang="en-US" dirty="0"/>
              <a:t>, </a:t>
            </a:r>
            <a:r>
              <a:rPr lang="en-US" dirty="0" err="1"/>
              <a:t>p.name</a:t>
            </a:r>
            <a:r>
              <a:rPr lang="en-US" dirty="0"/>
              <a:t> AS `Product Name`</a:t>
            </a:r>
          </a:p>
          <a:p>
            <a:pPr marL="0" indent="0">
              <a:buNone/>
            </a:pPr>
            <a:r>
              <a:rPr lang="en-US" dirty="0"/>
              <a:t>FROM </a:t>
            </a:r>
            <a:r>
              <a:rPr lang="en-US" dirty="0" err="1"/>
              <a:t>appjedin_student_temp.customer</a:t>
            </a:r>
            <a:r>
              <a:rPr lang="en-US" dirty="0"/>
              <a:t> c</a:t>
            </a:r>
          </a:p>
          <a:p>
            <a:pPr marL="0" indent="0">
              <a:buNone/>
            </a:pPr>
            <a:r>
              <a:rPr lang="en-US" dirty="0"/>
              <a:t>JOIN city ON </a:t>
            </a:r>
            <a:r>
              <a:rPr lang="en-US" dirty="0" err="1"/>
              <a:t>c.zip</a:t>
            </a:r>
            <a:r>
              <a:rPr lang="en-US" dirty="0"/>
              <a:t>=</a:t>
            </a:r>
            <a:r>
              <a:rPr lang="en-US" dirty="0" err="1"/>
              <a:t>city.zip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LEFT JOIN `order` o ON </a:t>
            </a:r>
            <a:r>
              <a:rPr lang="en-US" dirty="0" err="1"/>
              <a:t>c.ID</a:t>
            </a:r>
            <a:r>
              <a:rPr lang="en-US" dirty="0"/>
              <a:t>=</a:t>
            </a:r>
            <a:r>
              <a:rPr lang="en-US" dirty="0" err="1"/>
              <a:t>o.customerID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JOIN </a:t>
            </a:r>
            <a:r>
              <a:rPr lang="en-US" dirty="0" err="1"/>
              <a:t>orderline</a:t>
            </a:r>
            <a:r>
              <a:rPr lang="en-US" dirty="0"/>
              <a:t> </a:t>
            </a:r>
            <a:r>
              <a:rPr lang="en-US" dirty="0" err="1"/>
              <a:t>ol</a:t>
            </a:r>
            <a:r>
              <a:rPr lang="en-US" dirty="0"/>
              <a:t> ON </a:t>
            </a:r>
            <a:r>
              <a:rPr lang="en-US" dirty="0" err="1"/>
              <a:t>o.id</a:t>
            </a:r>
            <a:r>
              <a:rPr lang="en-US" dirty="0"/>
              <a:t> = </a:t>
            </a:r>
            <a:r>
              <a:rPr lang="en-US" dirty="0" err="1"/>
              <a:t>ol.orderId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JOIN product p ON </a:t>
            </a:r>
            <a:r>
              <a:rPr lang="en-US" dirty="0" err="1"/>
              <a:t>ol.productId</a:t>
            </a:r>
            <a:r>
              <a:rPr lang="en-US" dirty="0"/>
              <a:t> =</a:t>
            </a:r>
            <a:r>
              <a:rPr lang="en-US" dirty="0" err="1"/>
              <a:t>p.id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9486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6E166-F296-3EA7-56C7-FCA020489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E7598-3F2F-E39F-54D1-3F7291861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SELECT * FROM </a:t>
            </a:r>
            <a:r>
              <a:rPr lang="en-US" dirty="0" err="1"/>
              <a:t>view_customer_purchases</a:t>
            </a:r>
            <a:r>
              <a:rPr lang="en-US" dirty="0"/>
              <a:t>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7D7F514C-40FE-3739-3CA0-FC1D39FA3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510" y="2690514"/>
            <a:ext cx="10914512" cy="1401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8725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C476B-C0EE-C041-E89E-7D94FCD54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CB9A3-D34E-0FB5-F937-3DB9FBC13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Questions?  Please post to the comments section.</a:t>
            </a:r>
            <a:endParaRPr lang="en-US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Views continued.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Temp tables (with).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CASE.</a:t>
            </a:r>
          </a:p>
          <a:p>
            <a:pPr marL="0" marR="0" lvl="0" indent="0">
              <a:spcBef>
                <a:spcPts val="0"/>
              </a:spcBef>
              <a:spcAft>
                <a:spcPts val="0"/>
              </a:spcAft>
              <a:buNone/>
            </a:pPr>
            <a:endParaRPr lang="en-US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Please like and s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ubscribe.</a:t>
            </a:r>
          </a:p>
          <a:p>
            <a:pPr marL="0" marR="0" lvl="0" indent="0">
              <a:spcBef>
                <a:spcPts val="0"/>
              </a:spcBef>
              <a:spcAft>
                <a:spcPts val="0"/>
              </a:spcAft>
              <a:buNone/>
            </a:pPr>
            <a:endParaRPr lang="en-US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2"/>
              </a:rPr>
              <a:t>https://www.appjedi.net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en-US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810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10658</TotalTime>
  <Words>1196</Words>
  <Application>Microsoft Macintosh PowerPoint</Application>
  <PresentationFormat>Widescreen</PresentationFormat>
  <Paragraphs>199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6" baseType="lpstr">
      <vt:lpstr>Aptos</vt:lpstr>
      <vt:lpstr>Aptos Display</vt:lpstr>
      <vt:lpstr>Arial</vt:lpstr>
      <vt:lpstr>Google Sans</vt:lpstr>
      <vt:lpstr>Roboto</vt:lpstr>
      <vt:lpstr>Roboto Mono</vt:lpstr>
      <vt:lpstr>Source Sans 3</vt:lpstr>
      <vt:lpstr>Symbol</vt:lpstr>
      <vt:lpstr>Office Theme</vt:lpstr>
      <vt:lpstr>Introduction to SQL: Structured Query Language By AppJedi</vt:lpstr>
      <vt:lpstr>Review Syllabus.</vt:lpstr>
      <vt:lpstr>Aggregates:</vt:lpstr>
      <vt:lpstr>Syntax</vt:lpstr>
      <vt:lpstr>COUNT (* | column)</vt:lpstr>
      <vt:lpstr>MIN</vt:lpstr>
      <vt:lpstr>MAX</vt:lpstr>
      <vt:lpstr>AVG</vt:lpstr>
      <vt:lpstr>SUM</vt:lpstr>
      <vt:lpstr>Putting it all together.</vt:lpstr>
      <vt:lpstr>More on COUNT and the effect of NULL</vt:lpstr>
      <vt:lpstr>COUNT DISTINCT</vt:lpstr>
      <vt:lpstr>VERIFY WITH SELECT DISTINCT</vt:lpstr>
      <vt:lpstr>COUNT with WHERE clause:</vt:lpstr>
      <vt:lpstr>COUNT with GROUP BY clause:</vt:lpstr>
      <vt:lpstr>COUNT with Column Aliases:</vt:lpstr>
      <vt:lpstr>GROUP BY multiple columns:</vt:lpstr>
      <vt:lpstr>HAVING</vt:lpstr>
      <vt:lpstr>HAVING vs. WHERE  </vt:lpstr>
      <vt:lpstr>HAVING vs. WHERE Cont.</vt:lpstr>
      <vt:lpstr>HAVING vs. WHERE Cont.</vt:lpstr>
      <vt:lpstr>Simplifying it with views.</vt:lpstr>
      <vt:lpstr>Example </vt:lpstr>
      <vt:lpstr>Using the View</vt:lpstr>
      <vt:lpstr>View for Customer Purchases</vt:lpstr>
      <vt:lpstr>Using the view</vt:lpstr>
      <vt:lpstr>NEXT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SQL: Structured Query Language </dc:title>
  <dc:creator>Robert Timlin</dc:creator>
  <cp:lastModifiedBy>Bob Timlin</cp:lastModifiedBy>
  <cp:revision>355</cp:revision>
  <dcterms:created xsi:type="dcterms:W3CDTF">2024-04-28T18:01:14Z</dcterms:created>
  <dcterms:modified xsi:type="dcterms:W3CDTF">2026-08-21T16:03:14Z</dcterms:modified>
</cp:coreProperties>
</file>