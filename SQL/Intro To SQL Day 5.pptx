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8" r:id="rId3"/>
    <p:sldId id="275" r:id="rId4"/>
    <p:sldId id="317" r:id="rId5"/>
    <p:sldId id="277" r:id="rId6"/>
    <p:sldId id="276" r:id="rId7"/>
    <p:sldId id="291" r:id="rId8"/>
    <p:sldId id="279" r:id="rId9"/>
    <p:sldId id="302" r:id="rId10"/>
    <p:sldId id="304" r:id="rId11"/>
    <p:sldId id="316" r:id="rId12"/>
    <p:sldId id="280" r:id="rId13"/>
    <p:sldId id="293" r:id="rId14"/>
    <p:sldId id="305" r:id="rId15"/>
    <p:sldId id="307" r:id="rId16"/>
    <p:sldId id="309" r:id="rId17"/>
    <p:sldId id="310" r:id="rId18"/>
    <p:sldId id="286" r:id="rId19"/>
    <p:sldId id="306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96"/>
    <p:restoredTop sz="94921"/>
  </p:normalViewPr>
  <p:slideViewPr>
    <p:cSldViewPr snapToGrid="0">
      <p:cViewPr varScale="1">
        <p:scale>
          <a:sx n="146" d="100"/>
          <a:sy n="146" d="100"/>
        </p:scale>
        <p:origin x="16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27CFE-03D5-4546-9C4C-75BF169C7B7A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816DF-CCD3-0649-B4E3-5907FF0AD5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93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816DF-CCD3-0649-B4E3-5907FF0AD5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63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3D54-AA7E-D90F-3586-D3380A0AC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13392-A6D8-8A9A-5B1A-89D0CEAFC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82B62-6F22-6541-CFAA-CC55D442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1AB14-5AEA-95FA-BAB4-7DEF457F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6ADA9-4893-8088-D348-68B24C3C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26CD-D767-86C8-2394-DDF48DA8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A45CD-9C9D-0B95-8443-0608D9B82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61A69-2FE5-CEE9-157E-32CBB605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C2BBC-5A09-2309-8D77-A99496D0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F9FFA-F258-048F-E992-185E942E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5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FE938-37AB-C6B7-456F-30EE91A6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C32EB-8BF5-606E-8C7D-AD7D8F344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CFC86-6252-087F-8C25-1D483163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80D46-51B4-94B0-12C9-DAD3AE2C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25DE5-9809-58A2-3B32-5AA0F199F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9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1E26-CCEC-93E6-197D-FEF33B5F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BC709-CD84-2094-F3D6-D7A908527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A9D804-53C1-08E3-B194-1FA9162EC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4DE21-9732-A8D7-D331-9ACE4FB2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7555C-20BC-DD34-B048-475189CB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C182C-725B-4640-E69A-3F165A49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9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9ABC-AC97-116D-AE44-FFD71A67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2C0BF-F429-069C-3396-FD7BC2D51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B9A43-5C2E-6EB2-2496-1AEF8329D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ABF84-A49F-51A2-E67F-8B37B567C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B8A4F-4407-EC27-F9B4-D21C01584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963B5C-6CE3-3645-A846-4B8036E6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4AC47-7292-A2E2-2658-2DB256FE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AD898-6906-0DBB-6E8F-6D34586A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45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00D9-3FED-47E8-AD53-16AD24CE8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AC3F6-E83D-0EDA-0862-F335B415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2A0DD-CC45-D711-F1A4-181907BAE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EC8BF-6127-49B1-8380-AF73744D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2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1B0EE-6FC2-AB80-3240-AAE6C3FC5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23F59-213A-1BF0-9AA6-F2C913FE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E96D9-899F-551B-65BE-7B4E1ED6B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21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CC06-6EFF-4EDB-DD08-7B0D063D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F3C9E-0F80-D19A-069D-405ECA65E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F9169-03E3-BC7A-9682-BD407B02A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ABC0A-66D8-02C7-3BAF-924D32D0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14A76-997C-AE1F-C921-07FEDF20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A3DA3-4D14-38FA-8CC5-556174AF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2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BBBF-2CB4-3F34-5737-7614273E6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FB187-FEEF-22E9-919C-482781C1F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4513B-BEC5-BB71-EE93-6A5FC52FD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A3387-F61E-E77F-D03F-30F71BD9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A0032-D63B-70DD-3F17-BC7632E7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40381-4D89-B8BD-11A7-AD2DAC58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4FC17-4E8C-DDF4-3AA2-DA21D55A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5F918-6896-6622-F48D-25D95AE73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5D86B-33E6-338E-675A-E3F7E55A5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27C20-AF90-8348-77AC-AE0EC5EF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0019C-5204-963A-92E8-7A883AB0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2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7E3D1-4C5B-026B-7ABE-A87B2A3DC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4098A-3F10-AB09-1E83-69FEBFE8A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8F634-D23A-575E-07A1-FF19A08D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EC636-6195-BB1F-AF5E-F247261D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6C9DF-F64D-5417-933C-6B9BD4DB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8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89D09-8527-678A-6C39-A17455C1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3333A-C5EB-EA4E-279B-83297DB20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9A7C2-D2E7-47CD-587D-5152164B7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598D6-C04D-9446-A58F-36E01C46C34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038E2-3DB6-4914-2BC5-46ABF1647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074B-7154-5DC6-A287-48FCEBE40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9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C05E-F812-16EF-DBF3-07F16A9345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SQL: Structured Query Language</a:t>
            </a:r>
            <a:br>
              <a:rPr lang="en-US" dirty="0"/>
            </a:br>
            <a:r>
              <a:rPr lang="en-US" sz="4000" dirty="0"/>
              <a:t>By </a:t>
            </a:r>
            <a:r>
              <a:rPr lang="en-US" sz="4000" dirty="0" err="1"/>
              <a:t>AppJedi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D1DB5-BA77-C674-7DEA-5C9C2BAC7B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Five</a:t>
            </a:r>
          </a:p>
          <a:p>
            <a:r>
              <a:rPr lang="en-US" dirty="0"/>
              <a:t>September 1, 2026</a:t>
            </a:r>
          </a:p>
        </p:txBody>
      </p:sp>
    </p:spTree>
    <p:extLst>
      <p:ext uri="{BB962C8B-B14F-4D97-AF65-F5344CB8AC3E}">
        <p14:creationId xmlns:p14="http://schemas.microsoft.com/office/powerpoint/2010/main" val="2045926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FFBF-B745-4F05-CEBE-4054AD55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Syllabus.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E6D64-96DA-7CF2-3842-F404BE969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Goals: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Basic SELECT statement for data retrieval.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Where clause filter rows.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Using wild cards.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Specifying columns and column aliases.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 by (Sorting).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Limiting number of rows.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 Operators: Arithmetic, Comparison, Logical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 Null Functions: 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 Operations: UNION, UNION ALL, INTERSECT, EXCEPT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 queries.  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Primary &amp; Foreign Keys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Joins:  INNER, LEFT, RIGHT, SELF, OUTER.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Aggregates: COUNT, SUM, AVG, MIN, MAX.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 By and Having (filter).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Views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CTE: </a:t>
            </a:r>
            <a:r>
              <a:rPr lang="en-US" sz="1900" b="1" i="0" dirty="0">
                <a:solidFill>
                  <a:srgbClr val="0F0F0F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Common Table Expression</a:t>
            </a:r>
            <a:r>
              <a:rPr lang="en-US" sz="1900" b="1" i="0" kern="100" dirty="0">
                <a:solidFill>
                  <a:srgbClr val="0F0F0F"/>
                </a:solidFill>
                <a:highlight>
                  <a:srgbClr val="FFFFFF"/>
                </a:highlight>
                <a:latin typeface="Aptos" panose="020B0004020202020204" pitchFamily="34" charset="0"/>
                <a:cs typeface="Times New Roman" panose="02020603050405020304" pitchFamily="18" charset="0"/>
              </a:rPr>
              <a:t>, t</a:t>
            </a:r>
            <a:r>
              <a:rPr lang="en-US" sz="19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emp tables (with)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CASE statements.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 Injection.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Stored Procedures.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Numeric Functions.</a:t>
            </a:r>
          </a:p>
        </p:txBody>
      </p:sp>
    </p:spTree>
    <p:extLst>
      <p:ext uri="{BB962C8B-B14F-4D97-AF65-F5344CB8AC3E}">
        <p14:creationId xmlns:p14="http://schemas.microsoft.com/office/powerpoint/2010/main" val="289045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4BC39-BD8E-96DB-38C7-7A48786C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7E6DE-85CE-7952-20E7-BF6F98A2D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 Database View is a </a:t>
            </a:r>
            <a:r>
              <a:rPr lang="en-US" b="1" i="0" dirty="0"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virtual table that provides a user-friendly representation of data from one or more underlying</a:t>
            </a:r>
            <a:r>
              <a:rPr lang="en-US" b="0" i="0" dirty="0"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tables. It simplifies complex queries and data access</a:t>
            </a:r>
          </a:p>
          <a:p>
            <a:pPr marL="0" indent="0">
              <a:buNone/>
            </a:pPr>
            <a:endParaRPr lang="en-US" dirty="0">
              <a:solidFill>
                <a:srgbClr val="4D5156"/>
              </a:solidFill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b="1" i="0" u="sng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Syntax:</a:t>
            </a:r>
          </a:p>
          <a:p>
            <a:pPr marL="0" indent="0">
              <a:buNone/>
            </a:pPr>
            <a:r>
              <a:rPr lang="en-US" b="1" dirty="0"/>
              <a:t>CREATE VIEW </a:t>
            </a:r>
            <a:r>
              <a:rPr lang="en-US" b="1" dirty="0" err="1"/>
              <a:t>view_name</a:t>
            </a:r>
            <a:r>
              <a:rPr lang="en-US" b="1" dirty="0"/>
              <a:t> AS</a:t>
            </a:r>
          </a:p>
          <a:p>
            <a:pPr marL="0" indent="0">
              <a:buNone/>
            </a:pPr>
            <a:r>
              <a:rPr lang="en-US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SELECT [* | columns, …] FROM table</a:t>
            </a:r>
          </a:p>
          <a:p>
            <a:pPr marL="0" indent="0">
              <a:buNone/>
            </a:pPr>
            <a:endParaRPr lang="en-US" dirty="0">
              <a:solidFill>
                <a:srgbClr val="4D5156"/>
              </a:solidFill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505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C8B6C-61EE-7AEB-C4FE-EF05BFB6C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VIEW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CA229-7D08-3189-C21E-49EF708A3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VIEW </a:t>
            </a:r>
            <a:r>
              <a:rPr lang="en-US" dirty="0" err="1"/>
              <a:t>view_customer_city</a:t>
            </a:r>
            <a:r>
              <a:rPr lang="en-US" dirty="0"/>
              <a:t> AS </a:t>
            </a:r>
          </a:p>
          <a:p>
            <a:pPr marL="0" indent="0">
              <a:buNone/>
            </a:pPr>
            <a:r>
              <a:rPr lang="en-US" dirty="0"/>
              <a:t>SELECT c.* , </a:t>
            </a:r>
            <a:r>
              <a:rPr lang="en-US" dirty="0" err="1"/>
              <a:t>cz.city</a:t>
            </a:r>
            <a:r>
              <a:rPr lang="en-US" dirty="0"/>
              <a:t>, state</a:t>
            </a:r>
          </a:p>
          <a:p>
            <a:pPr marL="0" indent="0">
              <a:buNone/>
            </a:pPr>
            <a:r>
              <a:rPr lang="en-US" dirty="0"/>
              <a:t>FROM customer c</a:t>
            </a:r>
          </a:p>
          <a:p>
            <a:pPr marL="0" indent="0">
              <a:buNone/>
            </a:pPr>
            <a:r>
              <a:rPr lang="en-US" dirty="0"/>
              <a:t>JOIN city </a:t>
            </a:r>
            <a:r>
              <a:rPr lang="en-US" dirty="0" err="1"/>
              <a:t>cz</a:t>
            </a:r>
            <a:r>
              <a:rPr lang="en-US" dirty="0"/>
              <a:t> ON </a:t>
            </a:r>
            <a:r>
              <a:rPr lang="en-US" dirty="0" err="1"/>
              <a:t>c.zip</a:t>
            </a:r>
            <a:r>
              <a:rPr lang="en-US" dirty="0"/>
              <a:t>=</a:t>
            </a:r>
            <a:r>
              <a:rPr lang="en-US" dirty="0" err="1"/>
              <a:t>cz.zip</a:t>
            </a:r>
            <a:r>
              <a:rPr lang="en-US" dirty="0"/>
              <a:t>;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phone number&#10;&#10;AI-generated content may be incorrect.">
            <a:extLst>
              <a:ext uri="{FF2B5EF4-FFF2-40B4-BE49-F238E27FC236}">
                <a16:creationId xmlns:a16="http://schemas.microsoft.com/office/drawing/2014/main" id="{0E93A8D8-E1FE-ED63-F460-8EE7C1C4D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84089"/>
            <a:ext cx="7772400" cy="148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880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16D1-D44E-65EA-4E4A-9C7040DB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0F510-CCCA-7175-E756-80246405C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5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Simplifies complex queries.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access, use can be granted access to a view but not the underlying tables.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Include only the columns and rows necessary, hiding sensitive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Abstraction.  Hides the source tables &amp; columns from prying eyes.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Can include derived or calculated data including aggregates.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Limit access to third parties, API’s and client apps.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69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E77E-F1B6-8AF6-FCEF-4A59A0C4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QUERY: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78293-306C-DBD0-96CC-7C74C8740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CREATE VIEW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view_customer_purchases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AS</a:t>
            </a: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SELECT </a:t>
            </a: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c.ID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c.firstName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c.lastName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c.email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c.address1,c.phone,c.birthDate,</a:t>
            </a: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c.zip,city.city,city.state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o.datePlaced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o.dateShipped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o.status,ol.quantity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p.name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AS `Product Name`</a:t>
            </a: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FROM customer c</a:t>
            </a: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JOIN city 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c.zip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city.zip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LEFT JOIN `order` o 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c.ID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o.customerID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JOIN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orderline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o.ID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ol.orderID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JOIN product p 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ol.productID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p.ID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84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E77E-F1B6-8AF6-FCEF-4A59A0C4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VIEW of a COMPLEX QUERY: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78293-306C-DBD0-96CC-7C74C8740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481" y="1578146"/>
            <a:ext cx="10515600" cy="45786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CREATE VIEW </a:t>
            </a:r>
            <a:r>
              <a:rPr lang="en-US" sz="2400" b="0" dirty="0" err="1">
                <a:solidFill>
                  <a:srgbClr val="0D904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view_sales_report</a:t>
            </a:r>
            <a:r>
              <a:rPr lang="en-US" sz="2400" b="0" dirty="0">
                <a:solidFill>
                  <a:srgbClr val="0D904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AS</a:t>
            </a:r>
            <a:endParaRPr lang="en-US" sz="2400" b="0" dirty="0">
              <a:solidFill>
                <a:srgbClr val="3367D6"/>
              </a:solidFill>
              <a:effectLst/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`type`,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ShortDescription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COUNT(*) AS `Total Sales by group`, 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SUM(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`Total Sales Price`, 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AVG(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`Average Sale Price`, 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MIN(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`Min Sale Price`, 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MAX(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`Max Sale Price`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products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GROUP BY `type`,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ShortDescription</a:t>
            </a:r>
            <a:endParaRPr lang="en-US" sz="24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HAVING SUM(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)&gt;0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646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6BB-69D0-7220-FB4A-DE83D4A0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A792E-DFB2-6277-D807-7ACC42733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In the prior view only the columns type and </a:t>
            </a:r>
            <a:r>
              <a:rPr lang="en-US" sz="2400" dirty="0" err="1"/>
              <a:t>ShortDescription</a:t>
            </a:r>
            <a:r>
              <a:rPr lang="en-US" sz="2400" dirty="0"/>
              <a:t> are included in the SELECT part, the other columns are all calculated aggregate columns.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C04F5B11-5700-6450-1B6C-3D0ADEA6B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23" y="2737668"/>
            <a:ext cx="10262154" cy="138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62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6BB-69D0-7220-FB4A-DE83D4A0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Derived/Calculated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A792E-DFB2-6277-D807-7ACC42733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67D6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800" b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(0) AS `Total Sales by group`,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      	</a:t>
            </a:r>
            <a:r>
              <a:rPr lang="en-US" sz="1800" b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SUM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(`appjedin_student_temp`.`products`.`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SalePrice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`) </a:t>
            </a:r>
            <a:r>
              <a:rPr lang="en-US" sz="1800" b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`Total Sales Price`,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      	</a:t>
            </a:r>
            <a:r>
              <a:rPr lang="en-US" sz="1800" b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(`appjedin_student_temp`.`products`.`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SalePrice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`) </a:t>
            </a:r>
            <a:r>
              <a:rPr lang="en-US" sz="1800" b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`Average Sale Price`,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      	</a:t>
            </a:r>
            <a:r>
              <a:rPr lang="en-US" sz="1800" b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(`appjedin_student_temp`.`products`.`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SalePrice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`) </a:t>
            </a:r>
            <a:r>
              <a:rPr lang="en-US" sz="1800" b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`Min Sale Price`,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      	</a:t>
            </a:r>
            <a:r>
              <a:rPr lang="en-US" sz="1800" b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(`appjedin_student_temp`.`products`.`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SalePrice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`) </a:t>
            </a:r>
            <a:r>
              <a:rPr lang="en-US" sz="1800" b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`Max Sale Price`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466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6BB-69D0-7220-FB4A-DE83D4A0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Calculated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A792E-DFB2-6277-D807-7ACC42733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753"/>
            <a:ext cx="10515600" cy="4590210"/>
          </a:xfrm>
        </p:spPr>
        <p:txBody>
          <a:bodyPr/>
          <a:lstStyle/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`type`,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ShortDescription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COUNT(*) AS `Total Sales by group`,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SUM(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`Total Sales Price`,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AVG(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`Average Sale Price`,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MIN(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`Min Sale Price`,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MAX(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 AS `Max Sale Price`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appjedin_student_temp.products</a:t>
            </a:r>
            <a:endParaRPr lang="en-US" sz="16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GROUP BY `type`,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ShortDescription</a:t>
            </a:r>
            <a:endParaRPr lang="en-US" sz="16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HAVING SUM(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)&gt;0</a:t>
            </a:r>
            <a:endParaRPr lang="en-US" sz="16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E71BAFF7-FA37-2057-2949-F1D5B25AE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672935"/>
            <a:ext cx="10262154" cy="138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06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A062C-155A-EEA3-3CB9-19BC6FDDC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Derived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BF491-3AED-0248-746F-1189E00A5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Like calculated columns do not exist as a raw data column but are created from raw data columns just not numeric.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SELECT</a:t>
            </a:r>
            <a:r>
              <a:rPr lang="en-US" sz="2400" dirty="0"/>
              <a:t> </a:t>
            </a:r>
            <a:r>
              <a:rPr lang="en-US" sz="2400" dirty="0" err="1"/>
              <a:t>last_Name</a:t>
            </a:r>
            <a:r>
              <a:rPr lang="en-US" sz="2400" dirty="0"/>
              <a:t>, </a:t>
            </a:r>
            <a:r>
              <a:rPr lang="en-US" sz="2400" dirty="0" err="1"/>
              <a:t>first_Name</a:t>
            </a:r>
            <a:r>
              <a:rPr lang="en-US" sz="2400" dirty="0"/>
              <a:t>, CONCAT (</a:t>
            </a:r>
            <a:r>
              <a:rPr lang="en-US" sz="2400" dirty="0" err="1"/>
              <a:t>last_Name</a:t>
            </a:r>
            <a:r>
              <a:rPr lang="en-US" sz="2400" dirty="0"/>
              <a:t>, ', ',</a:t>
            </a:r>
            <a:r>
              <a:rPr lang="en-US" sz="2400" dirty="0" err="1"/>
              <a:t>first_Name</a:t>
            </a:r>
            <a:r>
              <a:rPr lang="en-US" sz="2400" dirty="0"/>
              <a:t>) AS </a:t>
            </a:r>
            <a:r>
              <a:rPr lang="en-US" sz="2400" dirty="0" err="1"/>
              <a:t>full_Name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FROM</a:t>
            </a:r>
            <a:r>
              <a:rPr lang="en-US" sz="2400" dirty="0"/>
              <a:t> employees;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10189CA-269F-5FC7-01D7-68B29E945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3592979"/>
            <a:ext cx="3411818" cy="2300994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280872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4230-0341-8A29-DB54-40C0238D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Source Sans 3"/>
              </a:rPr>
              <a:t>With or CTE: Common Table Expressions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396F3-1146-5014-94F2-000DC8FE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 </a:t>
            </a:r>
            <a:r>
              <a:rPr lang="en-US" dirty="0" err="1"/>
              <a:t>CTE_products</a:t>
            </a:r>
            <a:r>
              <a:rPr lang="en-US" dirty="0"/>
              <a:t> AS (</a:t>
            </a:r>
          </a:p>
          <a:p>
            <a:pPr marL="457200" lvl="1" indent="0">
              <a:buNone/>
            </a:pPr>
            <a:r>
              <a:rPr lang="en-US" dirty="0"/>
              <a:t> SELECT </a:t>
            </a:r>
          </a:p>
          <a:p>
            <a:pPr marL="457200" lvl="1" indent="0">
              <a:buNone/>
            </a:pPr>
            <a:r>
              <a:rPr lang="en-US" dirty="0"/>
              <a:t>       </a:t>
            </a:r>
            <a:r>
              <a:rPr lang="en-US" dirty="0" err="1"/>
              <a:t>o.customerId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/>
              <a:t>        </a:t>
            </a:r>
            <a:r>
              <a:rPr lang="en-US" dirty="0" err="1"/>
              <a:t>datePlaced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/>
              <a:t>        </a:t>
            </a:r>
            <a:r>
              <a:rPr lang="en-US" dirty="0" err="1"/>
              <a:t>dateShipped</a:t>
            </a:r>
            <a:r>
              <a:rPr lang="en-US" dirty="0"/>
              <a:t> ,</a:t>
            </a:r>
          </a:p>
          <a:p>
            <a:pPr marL="457200" lvl="1" indent="0">
              <a:buNone/>
            </a:pPr>
            <a:r>
              <a:rPr lang="en-US" dirty="0"/>
              <a:t>       </a:t>
            </a:r>
            <a:r>
              <a:rPr lang="en-US" dirty="0" err="1"/>
              <a:t>o.id</a:t>
            </a:r>
            <a:r>
              <a:rPr lang="en-US" dirty="0"/>
              <a:t> AS </a:t>
            </a:r>
            <a:r>
              <a:rPr lang="en-US" dirty="0" err="1"/>
              <a:t>orderId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/>
              <a:t>        </a:t>
            </a:r>
            <a:r>
              <a:rPr lang="en-US" dirty="0" err="1"/>
              <a:t>o.`status</a:t>
            </a:r>
            <a:r>
              <a:rPr lang="en-US" dirty="0"/>
              <a:t>` ,</a:t>
            </a:r>
          </a:p>
          <a:p>
            <a:pPr marL="457200" lvl="1" indent="0">
              <a:buNone/>
            </a:pPr>
            <a:r>
              <a:rPr lang="en-US" dirty="0"/>
              <a:t>        </a:t>
            </a:r>
            <a:r>
              <a:rPr lang="en-US" dirty="0" err="1"/>
              <a:t>ol</a:t>
            </a:r>
            <a:r>
              <a:rPr lang="en-US" dirty="0"/>
              <a:t>.`quantity` ,</a:t>
            </a:r>
          </a:p>
          <a:p>
            <a:pPr marL="457200" lvl="1" indent="0">
              <a:buNone/>
            </a:pPr>
            <a:r>
              <a:rPr lang="en-US" dirty="0"/>
              <a:t>        </a:t>
            </a:r>
            <a:r>
              <a:rPr lang="en-US" dirty="0" err="1"/>
              <a:t>p.currentPrice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/>
              <a:t>        `</a:t>
            </a:r>
            <a:r>
              <a:rPr lang="en-US" dirty="0" err="1"/>
              <a:t>p`.`name</a:t>
            </a:r>
            <a:r>
              <a:rPr lang="en-US" dirty="0"/>
              <a:t>` AS `Product Name`</a:t>
            </a:r>
          </a:p>
          <a:p>
            <a:pPr marL="457200" lvl="1" indent="0">
              <a:buNone/>
            </a:pPr>
            <a:r>
              <a:rPr lang="en-US" dirty="0"/>
              <a:t>    FROM `order`  o</a:t>
            </a:r>
          </a:p>
          <a:p>
            <a:pPr marL="457200" lvl="1" indent="0">
              <a:buNone/>
            </a:pPr>
            <a:r>
              <a:rPr lang="en-US" dirty="0"/>
              <a:t>        JOIN  </a:t>
            </a:r>
            <a:r>
              <a:rPr lang="en-US" dirty="0" err="1"/>
              <a:t>orderline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 ON </a:t>
            </a:r>
            <a:r>
              <a:rPr lang="en-US" dirty="0" err="1"/>
              <a:t>o.ID</a:t>
            </a:r>
            <a:r>
              <a:rPr lang="en-US" dirty="0"/>
              <a:t> = </a:t>
            </a:r>
            <a:r>
              <a:rPr lang="en-US" dirty="0" err="1"/>
              <a:t>ol.orderID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        JOIN product p ON </a:t>
            </a:r>
            <a:r>
              <a:rPr lang="en-US" dirty="0" err="1"/>
              <a:t>ol.productID</a:t>
            </a:r>
            <a:r>
              <a:rPr lang="en-US" dirty="0"/>
              <a:t> = </a:t>
            </a:r>
            <a:r>
              <a:rPr lang="en-US" dirty="0" err="1"/>
              <a:t>p.ID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Can be used in place of a sub-query.</a:t>
            </a:r>
          </a:p>
          <a:p>
            <a:pPr marL="0" indent="0">
              <a:buNone/>
            </a:pPr>
            <a:r>
              <a:rPr lang="en-US" dirty="0"/>
              <a:t>Creates a temporary virtual table in memory.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772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4230-0341-8A29-DB54-40C0238D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Source Sans 3"/>
              </a:rPr>
              <a:t>CTE Example: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396F3-1146-5014-94F2-000DC8FE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WITH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CTE_products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AS (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SELECT 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  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o.customerId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   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datePlaced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   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dateShipped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,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  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o.id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AS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orderId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   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o.`status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` ,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   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ol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.`quantity` ,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   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p.currentPrice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    `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p`.`name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` AS `Product Name`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FROM `order`  o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    JOIN 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orderline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ol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ON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o.ID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=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ol.orderID</a:t>
            </a:r>
            <a:endParaRPr lang="en-US" sz="14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      JOIN product p ON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ol.productID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=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p.ID</a:t>
            </a:r>
            <a:r>
              <a:rPr lang="en-US" sz="1400" dirty="0">
                <a:solidFill>
                  <a:srgbClr val="3367D6"/>
                </a:solidFill>
                <a:highlight>
                  <a:srgbClr val="FFFFFF"/>
                </a:highlight>
                <a:latin typeface="Roboto Mono" pitchFamily="49" charset="0"/>
              </a:rPr>
              <a:t>)</a:t>
            </a:r>
            <a:endParaRPr lang="en-US" sz="14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c.*, p.*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customer c 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JOIN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CTE_products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p ON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c.id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=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p.customerId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;</a:t>
            </a:r>
          </a:p>
          <a:p>
            <a:pPr marL="0" indent="0">
              <a:buNone/>
            </a:pPr>
            <a:endParaRPr lang="en-US" sz="14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sz="14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565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4230-0341-8A29-DB54-40C0238D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Source Sans 3"/>
              </a:rPr>
              <a:t>AS CTE (WITH)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396F3-1146-5014-94F2-000DC8FE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sz="800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</a:br>
            <a:endParaRPr lang="en-US" sz="8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sz="14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sz="14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EE9767-AEB5-289B-46B4-5FBAA7F1B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56" y="2280444"/>
            <a:ext cx="11067391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60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1D68-E2FB-F241-2FA5-B573F776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CTE (WITH) Advantages: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56646-33BD-BBFF-F05A-0C225A315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Simplicity</a:t>
            </a:r>
          </a:p>
          <a:p>
            <a:r>
              <a:rPr lang="en-US" dirty="0"/>
              <a:t>Performance CTE are held in memory so less I/O.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CTEs make code more readable. And readability makes queries easier to debug.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CTEs can reference the results multiple times throughout the query. By storing the results of the subquery, you can reuse them throughout a larger query.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CTEs can help you perform multi-level aggregations.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269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4B7C2-AB1D-2FF5-52B2-8B66EECC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CTE using Stored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C3170-E86F-15A3-8C66-BE6D1DC2C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CREATE</a:t>
            </a:r>
            <a:r>
              <a:rPr lang="en-US" sz="2600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PROCEDURE</a:t>
            </a:r>
            <a:r>
              <a:rPr lang="en-US" sz="2600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sz="2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usp_cte_example</a:t>
            </a:r>
            <a:r>
              <a:rPr lang="en-US" sz="2600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sz="2600" b="0" dirty="0">
                <a:solidFill>
                  <a:srgbClr val="37474F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()</a:t>
            </a:r>
            <a:endParaRPr lang="en-US" sz="26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WITH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CTE_products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AS (</a:t>
            </a:r>
          </a:p>
          <a:p>
            <a:pPr marL="0" indent="0">
              <a:buNone/>
            </a:pP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 SELECT </a:t>
            </a:r>
          </a:p>
          <a:p>
            <a:pPr marL="0" indent="0">
              <a:buNone/>
            </a:pP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	  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o.customerId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datePlaced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</a:t>
            </a:r>
          </a:p>
          <a:p>
            <a:pPr marL="0" indent="0">
              <a:buNone/>
            </a:pP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		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dateShipped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,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o.id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AS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orderId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</a:t>
            </a:r>
          </a:p>
          <a:p>
            <a:pPr marL="0" indent="0">
              <a:buNone/>
            </a:pP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		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o.`status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` ,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ol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.`quantity` ,</a:t>
            </a:r>
          </a:p>
          <a:p>
            <a:pPr marL="0" indent="0">
              <a:buNone/>
            </a:pP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		p.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currentPrice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,`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p`.`name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` AS `Product Name`</a:t>
            </a:r>
          </a:p>
          <a:p>
            <a:pPr marL="0" indent="0">
              <a:buNone/>
            </a:pP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	FROM `order`  o</a:t>
            </a:r>
          </a:p>
          <a:p>
            <a:pPr marL="0" indent="0">
              <a:buNone/>
            </a:pP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		JOIN 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orderline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ol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ON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o.ID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=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ol.orderID</a:t>
            </a:r>
            <a:endParaRPr lang="en-US" sz="26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		JOIN product p ON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ol.productID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=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p.ID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)</a:t>
            </a:r>
          </a:p>
          <a:p>
            <a:pPr marL="0" indent="0">
              <a:buNone/>
            </a:pPr>
            <a:endParaRPr lang="en-US" sz="26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SELECT c.*, p.*</a:t>
            </a:r>
          </a:p>
          <a:p>
            <a:pPr marL="0" indent="0">
              <a:buNone/>
            </a:pP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FROM customer c </a:t>
            </a:r>
          </a:p>
          <a:p>
            <a:pPr marL="0" indent="0">
              <a:buNone/>
            </a:pP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JOIN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CTE_products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 p ON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c.id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= </a:t>
            </a:r>
            <a:r>
              <a:rPr lang="en-US" sz="2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p.customerId</a:t>
            </a:r>
            <a:r>
              <a:rPr lang="en-US" sz="2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;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3367D6"/>
                </a:solidFill>
                <a:highlight>
                  <a:srgbClr val="FFFFFF"/>
                </a:highlight>
                <a:latin typeface="Roboto Mono" pitchFamily="49" charset="0"/>
              </a:rPr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36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9CE4-160E-F2DF-61DF-C0488FEE7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the Stored Procedure: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55607-008C-7E8D-CC84-F82F3E2F1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3A474E"/>
              </a:solidFill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101090-0D12-A84B-B080-9608F0C63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05" y="1678594"/>
            <a:ext cx="11099330" cy="331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82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946E-50CA-3CA0-0C55-60D1973F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FC325-0A7E-B75C-A05F-775B7306F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CASE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WHEN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condition1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result1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WHEN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condition2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result2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WHEN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1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conditionN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1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resultN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b="0" i="1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result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400" dirty="0"/>
              <a:t>Exercise:  Try the above query with different columns, tables.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147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946E-50CA-3CA0-0C55-60D1973F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FC325-0A7E-B75C-A05F-775B7306F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864" y="161531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description,categoryId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CASE 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	WHEN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categoryId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=1 THEN 'Computers'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	WHEN </a:t>
            </a:r>
            <a:r>
              <a:rPr lang="en-US" sz="18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categoryId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=2 THEN 'Clothing'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	ELSE 'Other'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	END AS category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 items;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E620BE77-40DB-6704-9340-37A6B72F9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4338237"/>
            <a:ext cx="5117058" cy="188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02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476B-C0EE-C041-E89E-7D94FCD5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B9A3-D34E-0FB5-F937-3DB9FBC13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Questions?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More on stored procedures.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Numeric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Please like and subscribe.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Visit me at </a:t>
            </a:r>
            <a:r>
              <a:rPr lang="en-US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www.appjedi.net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10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18338</TotalTime>
  <Words>1323</Words>
  <Application>Microsoft Macintosh PowerPoint</Application>
  <PresentationFormat>Widescreen</PresentationFormat>
  <Paragraphs>194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</vt:lpstr>
      <vt:lpstr>Aptos Display</vt:lpstr>
      <vt:lpstr>Arial</vt:lpstr>
      <vt:lpstr>Consolas</vt:lpstr>
      <vt:lpstr>Google Sans</vt:lpstr>
      <vt:lpstr>Roboto</vt:lpstr>
      <vt:lpstr>Roboto Mono</vt:lpstr>
      <vt:lpstr>Source Sans 3</vt:lpstr>
      <vt:lpstr>Symbol</vt:lpstr>
      <vt:lpstr>Office Theme</vt:lpstr>
      <vt:lpstr>Introduction to SQL: Structured Query Language By AppJedi</vt:lpstr>
      <vt:lpstr>Review Syllabus.</vt:lpstr>
      <vt:lpstr>Views:</vt:lpstr>
      <vt:lpstr>CREATE VIEW EXAMPLE:</vt:lpstr>
      <vt:lpstr>Benefits:</vt:lpstr>
      <vt:lpstr>COMPLEX QUERY:</vt:lpstr>
      <vt:lpstr>CREATE A VIEW of a COMPLEX QUERY:</vt:lpstr>
      <vt:lpstr>Restrict columns</vt:lpstr>
      <vt:lpstr>Derived/Calculated columns</vt:lpstr>
      <vt:lpstr>Calculated columns</vt:lpstr>
      <vt:lpstr>Derived Columns</vt:lpstr>
      <vt:lpstr>With or CTE: Common Table Expressions</vt:lpstr>
      <vt:lpstr>CTE Example:</vt:lpstr>
      <vt:lpstr>AS CTE (WITH)</vt:lpstr>
      <vt:lpstr>CTE (WITH) Advantages:</vt:lpstr>
      <vt:lpstr>Saving CTE using Stored Procedure</vt:lpstr>
      <vt:lpstr>Calling the Stored Procedure:</vt:lpstr>
      <vt:lpstr>CASE</vt:lpstr>
      <vt:lpstr>CASE Example: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SQL: Structured Query Language </dc:title>
  <dc:creator>Robert Timlin</dc:creator>
  <cp:lastModifiedBy>Bob Timlin</cp:lastModifiedBy>
  <cp:revision>447</cp:revision>
  <dcterms:created xsi:type="dcterms:W3CDTF">2024-04-28T18:01:14Z</dcterms:created>
  <dcterms:modified xsi:type="dcterms:W3CDTF">2026-09-01T23:49:03Z</dcterms:modified>
</cp:coreProperties>
</file>