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68" r:id="rId3"/>
    <p:sldId id="275" r:id="rId4"/>
    <p:sldId id="317" r:id="rId5"/>
    <p:sldId id="277" r:id="rId6"/>
    <p:sldId id="276" r:id="rId7"/>
    <p:sldId id="291" r:id="rId8"/>
    <p:sldId id="279" r:id="rId9"/>
    <p:sldId id="302" r:id="rId10"/>
    <p:sldId id="304" r:id="rId11"/>
    <p:sldId id="316" r:id="rId12"/>
    <p:sldId id="280" r:id="rId13"/>
    <p:sldId id="293" r:id="rId14"/>
    <p:sldId id="305" r:id="rId15"/>
    <p:sldId id="307" r:id="rId16"/>
    <p:sldId id="309" r:id="rId17"/>
    <p:sldId id="310" r:id="rId18"/>
    <p:sldId id="286" r:id="rId19"/>
    <p:sldId id="306" r:id="rId20"/>
    <p:sldId id="266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/>
    <p:restoredTop sz="94863"/>
  </p:normalViewPr>
  <p:slideViewPr>
    <p:cSldViewPr snapToGrid="0">
      <p:cViewPr varScale="1">
        <p:scale>
          <a:sx n="120" d="100"/>
          <a:sy n="120" d="100"/>
        </p:scale>
        <p:origin x="145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527CFE-03D5-4546-9C4C-75BF169C7B7A}" type="datetimeFigureOut">
              <a:rPr lang="en-US" smtClean="0"/>
              <a:t>7/22/26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D816DF-CCD3-0649-B4E3-5907FF0AD5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8937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D816DF-CCD3-0649-B4E3-5907FF0AD52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0638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43D54-AA7E-D90F-3586-D3380A0AC5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E13392-A6D8-8A9A-5B1A-89D0CEAFC2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782B62-6F22-6541-CFAA-CC55D442E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98D6-C04D-9446-A58F-36E01C46C34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01AB14-5AEA-95FA-BAB4-7DEF457FE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46ADA9-4893-8088-D348-68B24C3C1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040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726CD-D767-86C8-2394-DDF48DA8F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4A45CD-9C9D-0B95-8443-0608D9B821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961A69-2FE5-CEE9-157E-32CBB6054D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98D6-C04D-9446-A58F-36E01C46C34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8C2BBC-5A09-2309-8D77-A99496D0C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F9FFA-F258-048F-E992-185E942E4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8527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FE938-37AB-C6B7-456F-30EE91A6B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3C32EB-8BF5-606E-8C7D-AD7D8F3440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2CFC86-6252-087F-8C25-1D483163C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98D6-C04D-9446-A58F-36E01C46C34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D80D46-51B4-94B0-12C9-DAD3AE2C8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425DE5-9809-58A2-3B32-5AA0F199F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3945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741E26-CCEC-93E6-197D-FEF33B5F3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4BC709-CD84-2094-F3D6-D7A908527C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A9D804-53C1-08E3-B194-1FA9162EC1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94DE21-9732-A8D7-D331-9ACE4FB29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98D6-C04D-9446-A58F-36E01C46C34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27555C-20BC-DD34-B048-475189CB1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AC182C-725B-4640-E69A-3F165A492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5913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39ABC-AC97-116D-AE44-FFD71A67E9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12C0BF-F429-069C-3396-FD7BC2D515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EB9A43-5C2E-6EB2-2496-1AEF8329DD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4ABF84-A49F-51A2-E67F-8B37B567C4C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FB8A4F-4407-EC27-F9B4-D21C01584F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4963B5C-6CE3-3645-A846-4B8036E6C0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98D6-C04D-9446-A58F-36E01C46C34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A94AC47-7292-A2E2-2658-2DB256FE5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08AD898-6906-0DBB-6E8F-6D34586AC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2457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E00D9-3FED-47E8-AD53-16AD24CE89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DAC3F6-E83D-0EDA-0862-F335B4153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98D6-C04D-9446-A58F-36E01C46C34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72A0DD-CC45-D711-F1A4-181907BAE4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7EC8BF-6127-49B1-8380-AF73744D3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4223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01B0EE-6FC2-AB80-3240-AAE6C3FC56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98D6-C04D-9446-A58F-36E01C46C34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D23F59-213A-1BF0-9AA6-F2C913FE0E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9E96D9-899F-551B-65BE-7B4E1ED6BB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2215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0CC06-6EFF-4EDB-DD08-7B0D063D9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AF3C9E-0F80-D19A-069D-405ECA65ED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FF9169-03E3-BC7A-9682-BD407B02A9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5ABC0A-66D8-02C7-3BAF-924D32D00A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98D6-C04D-9446-A58F-36E01C46C34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F14A76-997C-AE1F-C921-07FEDF20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AA3DA3-4D14-38FA-8CC5-556174AF5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7244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ACBBBF-2CB4-3F34-5737-7614273E6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4FB187-FEEF-22E9-919C-482781C1F6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74513B-BEC5-BB71-EE93-6A5FC52FDB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8A3387-F61E-E77F-D03F-30F71BD99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98D6-C04D-9446-A58F-36E01C46C34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FA0032-D63B-70DD-3F17-BC7632E7B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940381-4D89-B8BD-11A7-AD2DAC58EC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06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E4FC17-4E8C-DDF4-3AA2-DA21D55A2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A5F918-6896-6622-F48D-25D95AE733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95D86B-33E6-338E-675A-E3F7E55A5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98D6-C04D-9446-A58F-36E01C46C34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727C20-AF90-8348-77AC-AE0EC5EFB3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D0019C-5204-963A-92E8-7A883AB01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8217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C7E3D1-4C5B-026B-7ABE-A87B2A3DCEF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94098A-3F10-AB09-1E83-69FEBFE8A2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8F634-D23A-575E-07A1-FF19A08D8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98D6-C04D-9446-A58F-36E01C46C34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EEC636-6195-BB1F-AF5E-F247261D6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16C9DF-F64D-5417-933C-6B9BD4DBC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083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C589D09-8527-678A-6C39-A17455C15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83333A-C5EB-EA4E-279B-83297DB20B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B9A7C2-D2E7-47CD-587D-5152164B7E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6598D6-C04D-9446-A58F-36E01C46C34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E038E2-3DB6-4914-2BC5-46ABF16470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1D074B-7154-5DC6-A287-48FCEBE404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999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4C05E-F812-16EF-DBF3-07F16A9345B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Introduction to SQL: Structured Query Language</a:t>
            </a:r>
            <a:br>
              <a:rPr lang="en-US" dirty="0"/>
            </a:br>
            <a:r>
              <a:rPr lang="en-US" sz="4000" dirty="0"/>
              <a:t>By </a:t>
            </a:r>
            <a:r>
              <a:rPr lang="en-US" sz="4000" dirty="0" err="1"/>
              <a:t>AppJedi</a:t>
            </a:r>
            <a:endParaRPr lang="en-US" sz="4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4D1DB5-BA77-C674-7DEA-5C9C2BAC7B7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Session Five</a:t>
            </a:r>
          </a:p>
          <a:p>
            <a:r>
              <a:rPr lang="en-US"/>
              <a:t>July 29, 2026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59267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FFFBF-B745-4F05-CEBE-4054AD558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Syllabus.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EE6D64-96DA-7CF2-3842-F404BE9695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u="sng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Goals:</a:t>
            </a:r>
            <a:endParaRPr lang="en-US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Basic SELECT statement for data retrieval.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Where clause filter rows.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Using wild cards.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Specifying columns and column aliases.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Order by (Sorting).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Limiting number of rows.</a:t>
            </a:r>
          </a:p>
          <a:p>
            <a:pPr marL="342900" indent="-342900">
              <a:spcBef>
                <a:spcPts val="0"/>
              </a:spcBef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SQL Operators: Arithmetic, Comparison, Logical</a:t>
            </a:r>
          </a:p>
          <a:p>
            <a:pPr marL="342900" indent="-342900">
              <a:spcBef>
                <a:spcPts val="0"/>
              </a:spcBef>
              <a:buFont typeface="Symbol" pitchFamily="2" charset="2"/>
              <a:buChar char=""/>
            </a:pPr>
            <a:r>
              <a:rPr lang="en-US" sz="18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SQL Null Functions: </a:t>
            </a:r>
          </a:p>
          <a:p>
            <a:pPr marL="342900" indent="-342900">
              <a:spcBef>
                <a:spcPts val="0"/>
              </a:spcBef>
              <a:buFont typeface="Symbol" pitchFamily="2" charset="2"/>
              <a:buChar char=""/>
            </a:pPr>
            <a:r>
              <a:rPr lang="en-US" sz="18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Set Operations: UNION, UNION ALL, INTERSECT, EXCEPT</a:t>
            </a:r>
          </a:p>
          <a:p>
            <a:pPr marL="342900" indent="-342900">
              <a:spcBef>
                <a:spcPts val="0"/>
              </a:spcBef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Sub queries.  </a:t>
            </a:r>
          </a:p>
          <a:p>
            <a:pPr marL="342900" indent="-342900">
              <a:spcBef>
                <a:spcPts val="0"/>
              </a:spcBef>
              <a:buFont typeface="Symbol" pitchFamily="2" charset="2"/>
              <a:buChar char=""/>
            </a:pPr>
            <a:r>
              <a:rPr lang="en-US" sz="18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Primary &amp; Foreign Keys</a:t>
            </a:r>
            <a:endParaRPr lang="en-US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Joins:  INNER, LEFT, RIGHT, SELF, OUTER.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Aggregates: COUNT, SUM, AVG, MIN, MAX.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Group By and Having (filter).</a:t>
            </a:r>
          </a:p>
          <a:p>
            <a:pPr marL="342900" indent="-342900">
              <a:spcBef>
                <a:spcPts val="0"/>
              </a:spcBef>
              <a:buFont typeface="Symbol" pitchFamily="2" charset="2"/>
              <a:buChar char=""/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Views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</a:t>
            </a:r>
            <a:endParaRPr lang="en-US" sz="1800" b="1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indent="-342900">
              <a:spcBef>
                <a:spcPts val="0"/>
              </a:spcBef>
              <a:buFont typeface="Symbol" pitchFamily="2" charset="2"/>
              <a:buChar char=""/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CTE: </a:t>
            </a:r>
            <a:r>
              <a:rPr lang="en-US" sz="1900" b="1" i="0" dirty="0">
                <a:solidFill>
                  <a:srgbClr val="0F0F0F"/>
                </a:solidFill>
                <a:effectLst/>
                <a:highlight>
                  <a:srgbClr val="FFFFFF"/>
                </a:highlight>
                <a:latin typeface="Roboto" panose="02000000000000000000" pitchFamily="2" charset="0"/>
              </a:rPr>
              <a:t>Common Table Expression</a:t>
            </a:r>
            <a:r>
              <a:rPr lang="en-US" sz="1900" b="1" i="0" kern="100" dirty="0">
                <a:solidFill>
                  <a:srgbClr val="0F0F0F"/>
                </a:solidFill>
                <a:highlight>
                  <a:srgbClr val="FFFFFF"/>
                </a:highlight>
                <a:latin typeface="Aptos" panose="020B0004020202020204" pitchFamily="34" charset="0"/>
                <a:cs typeface="Times New Roman" panose="02020603050405020304" pitchFamily="18" charset="0"/>
              </a:rPr>
              <a:t>, t</a:t>
            </a:r>
            <a:r>
              <a:rPr lang="en-US" sz="19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emp tables (with)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CASE statements.</a:t>
            </a:r>
          </a:p>
          <a:p>
            <a:pPr marL="342900" indent="-342900">
              <a:spcBef>
                <a:spcPts val="0"/>
              </a:spcBef>
              <a:buFont typeface="Symbol" pitchFamily="2" charset="2"/>
              <a:buChar char=""/>
            </a:pPr>
            <a:r>
              <a:rPr lang="en-US" sz="18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SQL Injection.</a:t>
            </a:r>
            <a:endParaRPr lang="en-US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indent="-342900">
              <a:spcBef>
                <a:spcPts val="0"/>
              </a:spcBef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Stored Procedures.</a:t>
            </a:r>
            <a:endParaRPr lang="en-US" sz="1800" b="1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Date functions.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String functions.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Numeric Functions.</a:t>
            </a:r>
          </a:p>
        </p:txBody>
      </p:sp>
    </p:spTree>
    <p:extLst>
      <p:ext uri="{BB962C8B-B14F-4D97-AF65-F5344CB8AC3E}">
        <p14:creationId xmlns:p14="http://schemas.microsoft.com/office/powerpoint/2010/main" val="28904556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4BC39-BD8E-96DB-38C7-7A48786C8C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F7E6DE-85CE-7952-20E7-BF6F98A2DB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0" i="0" dirty="0">
                <a:effectLst/>
                <a:highlight>
                  <a:srgbClr val="FFFFFF"/>
                </a:highlight>
                <a:latin typeface="Roboto" panose="02000000000000000000" pitchFamily="2" charset="0"/>
              </a:rPr>
              <a:t>A Database View is a </a:t>
            </a:r>
            <a:r>
              <a:rPr lang="en-US" b="1" i="0" dirty="0">
                <a:effectLst/>
                <a:highlight>
                  <a:srgbClr val="FFFFFF"/>
                </a:highlight>
                <a:latin typeface="Roboto" panose="02000000000000000000" pitchFamily="2" charset="0"/>
              </a:rPr>
              <a:t>virtual table that provides a user-friendly representation of data from one or more underlying</a:t>
            </a:r>
            <a:r>
              <a:rPr lang="en-US" b="0" i="0" dirty="0">
                <a:effectLst/>
                <a:highlight>
                  <a:srgbClr val="FFFFFF"/>
                </a:highlight>
                <a:latin typeface="Roboto" panose="02000000000000000000" pitchFamily="2" charset="0"/>
              </a:rPr>
              <a:t> tables. It simplifies complex queries and data access</a:t>
            </a:r>
          </a:p>
          <a:p>
            <a:pPr marL="0" indent="0">
              <a:buNone/>
            </a:pPr>
            <a:endParaRPr lang="en-US" dirty="0">
              <a:solidFill>
                <a:srgbClr val="4D5156"/>
              </a:solidFill>
              <a:highlight>
                <a:srgbClr val="FFFFFF"/>
              </a:highlight>
              <a:latin typeface="Roboto" panose="02000000000000000000" pitchFamily="2" charset="0"/>
            </a:endParaRPr>
          </a:p>
          <a:p>
            <a:pPr marL="0" indent="0">
              <a:buNone/>
            </a:pPr>
            <a:r>
              <a:rPr lang="en-US" b="1" i="0" u="sng" dirty="0">
                <a:solidFill>
                  <a:srgbClr val="4D5156"/>
                </a:solidFill>
                <a:effectLst/>
                <a:highlight>
                  <a:srgbClr val="FFFFFF"/>
                </a:highlight>
                <a:latin typeface="Roboto" panose="02000000000000000000" pitchFamily="2" charset="0"/>
              </a:rPr>
              <a:t>Syntax:</a:t>
            </a:r>
          </a:p>
          <a:p>
            <a:pPr marL="0" indent="0">
              <a:buNone/>
            </a:pPr>
            <a:r>
              <a:rPr lang="en-US" b="1" dirty="0"/>
              <a:t>CREATE VIEW </a:t>
            </a:r>
            <a:r>
              <a:rPr lang="en-US" b="1" dirty="0" err="1"/>
              <a:t>view_name</a:t>
            </a:r>
            <a:r>
              <a:rPr lang="en-US" b="1" dirty="0"/>
              <a:t> AS</a:t>
            </a:r>
          </a:p>
          <a:p>
            <a:pPr marL="0" indent="0">
              <a:buNone/>
            </a:pPr>
            <a:r>
              <a:rPr lang="en-US" i="0" dirty="0">
                <a:solidFill>
                  <a:srgbClr val="4D5156"/>
                </a:solidFill>
                <a:effectLst/>
                <a:highlight>
                  <a:srgbClr val="FFFFFF"/>
                </a:highlight>
                <a:latin typeface="Roboto" panose="02000000000000000000" pitchFamily="2" charset="0"/>
              </a:rPr>
              <a:t>SELECT [* | columns, …] FROM table</a:t>
            </a:r>
          </a:p>
          <a:p>
            <a:pPr marL="0" indent="0">
              <a:buNone/>
            </a:pPr>
            <a:endParaRPr lang="en-US" dirty="0">
              <a:solidFill>
                <a:srgbClr val="4D5156"/>
              </a:solidFill>
              <a:highlight>
                <a:srgbClr val="FFFFFF"/>
              </a:highlight>
              <a:latin typeface="Roboto" panose="02000000000000000000" pitchFamily="2" charset="0"/>
            </a:endParaRPr>
          </a:p>
          <a:p>
            <a:pPr marL="0" indent="0">
              <a:buNone/>
            </a:pPr>
            <a:r>
              <a:rPr lang="en-US" b="0" i="0" dirty="0">
                <a:solidFill>
                  <a:srgbClr val="4D5156"/>
                </a:solidFill>
                <a:effectLst/>
                <a:highlight>
                  <a:srgbClr val="FFFFFF"/>
                </a:highlight>
                <a:latin typeface="Roboto" panose="02000000000000000000" pitchFamily="2" charset="0"/>
              </a:rPr>
              <a:t> 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55053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7C8B6C-61EE-7AEB-C4FE-EF05BFB6C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VIEW EXAMPLE: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5CA229-7D08-3189-C21E-49EF708A3A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CREATE VIEW </a:t>
            </a:r>
            <a:r>
              <a:rPr lang="en-US" dirty="0" err="1"/>
              <a:t>view_customer_city</a:t>
            </a:r>
            <a:r>
              <a:rPr lang="en-US" dirty="0"/>
              <a:t> AS </a:t>
            </a:r>
          </a:p>
          <a:p>
            <a:pPr marL="0" indent="0">
              <a:buNone/>
            </a:pPr>
            <a:r>
              <a:rPr lang="en-US" dirty="0"/>
              <a:t>SELECT c.* , </a:t>
            </a:r>
            <a:r>
              <a:rPr lang="en-US" dirty="0" err="1"/>
              <a:t>cz.city</a:t>
            </a:r>
            <a:r>
              <a:rPr lang="en-US" dirty="0"/>
              <a:t>, state</a:t>
            </a:r>
          </a:p>
          <a:p>
            <a:pPr marL="0" indent="0">
              <a:buNone/>
            </a:pPr>
            <a:r>
              <a:rPr lang="en-US" dirty="0"/>
              <a:t>FROM customer c</a:t>
            </a:r>
          </a:p>
          <a:p>
            <a:pPr marL="0" indent="0">
              <a:buNone/>
            </a:pPr>
            <a:r>
              <a:rPr lang="en-US" dirty="0"/>
              <a:t>JOIN city </a:t>
            </a:r>
            <a:r>
              <a:rPr lang="en-US" dirty="0" err="1"/>
              <a:t>cz</a:t>
            </a:r>
            <a:r>
              <a:rPr lang="en-US" dirty="0"/>
              <a:t> ON </a:t>
            </a:r>
            <a:r>
              <a:rPr lang="en-US" dirty="0" err="1"/>
              <a:t>c.zip</a:t>
            </a:r>
            <a:r>
              <a:rPr lang="en-US" dirty="0"/>
              <a:t>=</a:t>
            </a:r>
            <a:r>
              <a:rPr lang="en-US" dirty="0" err="1"/>
              <a:t>cz.zip</a:t>
            </a:r>
            <a:r>
              <a:rPr lang="en-US" dirty="0"/>
              <a:t>;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A screenshot of a phone number&#10;&#10;AI-generated content may be incorrect.">
            <a:extLst>
              <a:ext uri="{FF2B5EF4-FFF2-40B4-BE49-F238E27FC236}">
                <a16:creationId xmlns:a16="http://schemas.microsoft.com/office/drawing/2014/main" id="{0E93A8D8-E1FE-ED63-F460-8EE7C1C4DD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284089"/>
            <a:ext cx="7772400" cy="1480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9880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2A16D1-D44E-65EA-4E4A-9C7040DB6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Benefits: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A0F510-CCCA-7175-E756-80246405C1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4050" y="1690688"/>
            <a:ext cx="10515600" cy="4351338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Simplifies complex queries.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Data access, use can be granted access to a view but not the underlying tables.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Include only the columns and rows necessary, hiding sensitive data.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Abstraction.  Hides the source tables &amp; columns from prying eyes.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Can include derived or calculated data including aggregates.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Limit access to third parties, API’s and client apps.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36942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7E77E-F1B6-8AF6-FCEF-4A59A0C40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QUERY: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78293-306C-DBD0-96CC-7C74C8740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CREATE VIEW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view_customer_purchases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AS</a:t>
            </a:r>
          </a:p>
          <a:p>
            <a:pPr marL="0" indent="0">
              <a:buNone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SELECT </a:t>
            </a:r>
          </a:p>
          <a:p>
            <a:pPr marL="0" indent="0">
              <a:buNone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c.ID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c.firstName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c.lastName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c.email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</a:p>
          <a:p>
            <a:pPr marL="0" indent="0">
              <a:buNone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 c.address1,c.phone,c.birthDate,</a:t>
            </a:r>
          </a:p>
          <a:p>
            <a:pPr marL="0" indent="0">
              <a:buNone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c.zip,city.city,city.state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</a:p>
          <a:p>
            <a:pPr marL="0" indent="0">
              <a:buNone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o.datePlaced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o.dateShipped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</a:p>
          <a:p>
            <a:pPr marL="0" indent="0">
              <a:buNone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o.status,ol.quantity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</a:p>
          <a:p>
            <a:pPr marL="0" indent="0">
              <a:buNone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p.name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AS `Product Name`</a:t>
            </a:r>
          </a:p>
          <a:p>
            <a:pPr marL="0" indent="0">
              <a:buNone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FROM customer c</a:t>
            </a:r>
          </a:p>
          <a:p>
            <a:pPr marL="0" indent="0">
              <a:buNone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	JOIN city ON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c.zip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city.zip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	LEFT JOIN `order` o ON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c.ID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o.customerID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	JOIN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orderline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ON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o.ID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ol.orderID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	JOIN product p ON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ol.productID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p.ID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48424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7E77E-F1B6-8AF6-FCEF-4A59A0C40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 VIEW of a COMPLEX QUERY: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78293-306C-DBD0-96CC-7C74C87407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2481" y="1578146"/>
            <a:ext cx="10515600" cy="45786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CREATE VIEW </a:t>
            </a:r>
            <a:r>
              <a:rPr lang="en-US" sz="2400" b="0" dirty="0" err="1">
                <a:solidFill>
                  <a:srgbClr val="0D904F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view_sales_report</a:t>
            </a:r>
            <a:r>
              <a:rPr lang="en-US" sz="2400" b="0" dirty="0">
                <a:solidFill>
                  <a:srgbClr val="0D904F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AS</a:t>
            </a:r>
            <a:endParaRPr lang="en-US" sz="2400" b="0" dirty="0">
              <a:solidFill>
                <a:srgbClr val="3367D6"/>
              </a:solidFill>
              <a:effectLst/>
              <a:latin typeface="Roboto Mono" pitchFamily="49" charset="0"/>
            </a:endParaRPr>
          </a:p>
          <a:p>
            <a:pPr marL="0" indent="0">
              <a:buNone/>
            </a:pPr>
            <a:r>
              <a:rPr lang="en-US" sz="2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SELECT `type`,</a:t>
            </a:r>
            <a:r>
              <a:rPr lang="en-US" sz="2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ShortDescription</a:t>
            </a:r>
            <a:r>
              <a:rPr lang="en-US" sz="2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, </a:t>
            </a:r>
          </a:p>
          <a:p>
            <a:pPr marL="0" indent="0">
              <a:buNone/>
            </a:pPr>
            <a:r>
              <a:rPr lang="en-US" sz="2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	COUNT(*) AS `Total Sales by group`, </a:t>
            </a:r>
          </a:p>
          <a:p>
            <a:pPr marL="0" indent="0">
              <a:buNone/>
            </a:pPr>
            <a:r>
              <a:rPr lang="en-US" sz="2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	SUM(</a:t>
            </a:r>
            <a:r>
              <a:rPr lang="en-US" sz="2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2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 AS `Total Sales Price`, </a:t>
            </a:r>
          </a:p>
          <a:p>
            <a:pPr marL="0" indent="0">
              <a:buNone/>
            </a:pPr>
            <a:r>
              <a:rPr lang="en-US" sz="2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   AVG(</a:t>
            </a:r>
            <a:r>
              <a:rPr lang="en-US" sz="2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2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 AS `Average Sale Price`, </a:t>
            </a:r>
          </a:p>
          <a:p>
            <a:pPr marL="0" indent="0">
              <a:buNone/>
            </a:pPr>
            <a:r>
              <a:rPr lang="en-US" sz="2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   MIN(</a:t>
            </a:r>
            <a:r>
              <a:rPr lang="en-US" sz="2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2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 AS `Min Sale Price`, </a:t>
            </a:r>
          </a:p>
          <a:p>
            <a:pPr marL="0" indent="0">
              <a:buNone/>
            </a:pPr>
            <a:r>
              <a:rPr lang="en-US" sz="2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   MAX(</a:t>
            </a:r>
            <a:r>
              <a:rPr lang="en-US" sz="2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2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 AS `Max Sale Price`</a:t>
            </a:r>
          </a:p>
          <a:p>
            <a:pPr marL="0" indent="0">
              <a:buNone/>
            </a:pPr>
            <a:r>
              <a:rPr lang="en-US" sz="2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FROM products</a:t>
            </a:r>
          </a:p>
          <a:p>
            <a:pPr marL="0" indent="0">
              <a:buNone/>
            </a:pPr>
            <a:r>
              <a:rPr lang="en-US" sz="2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GROUP BY `type`,</a:t>
            </a:r>
            <a:r>
              <a:rPr lang="en-US" sz="2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ShortDescription</a:t>
            </a:r>
            <a:endParaRPr lang="en-US" sz="2400" b="0" dirty="0">
              <a:solidFill>
                <a:srgbClr val="3367D6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r>
              <a:rPr lang="en-US" sz="2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HAVING SUM(</a:t>
            </a:r>
            <a:r>
              <a:rPr lang="en-US" sz="2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2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)&gt;0</a:t>
            </a:r>
            <a:endParaRPr lang="en-US" sz="24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96464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026BB-69D0-7220-FB4A-DE83D4A01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Restrict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A792E-DFB2-6277-D807-7ACC42733D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400" dirty="0"/>
              <a:t>In the prior view only the columns type and </a:t>
            </a:r>
            <a:r>
              <a:rPr lang="en-US" sz="2400" dirty="0" err="1"/>
              <a:t>ShortDescription</a:t>
            </a:r>
            <a:r>
              <a:rPr lang="en-US" sz="2400" dirty="0"/>
              <a:t> are included in the SELECT part, the other columns are all calculated aggregate columns.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</p:txBody>
      </p:sp>
      <p:pic>
        <p:nvPicPr>
          <p:cNvPr id="5" name="Picture 4" descr="A screenshot of a graph&#10;&#10;Description automatically generated">
            <a:extLst>
              <a:ext uri="{FF2B5EF4-FFF2-40B4-BE49-F238E27FC236}">
                <a16:creationId xmlns:a16="http://schemas.microsoft.com/office/drawing/2014/main" id="{C04F5B11-5700-6450-1B6C-3D0ADEA6B1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923" y="2737668"/>
            <a:ext cx="10262154" cy="1382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8621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026BB-69D0-7220-FB4A-DE83D4A01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Derived/Calculated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A792E-DFB2-6277-D807-7ACC42733D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3367D6"/>
                </a:solidFill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sz="1800" b="0" dirty="0">
                <a:solidFill>
                  <a:srgbClr val="7030A0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COUNT</a:t>
            </a: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(0) AS `Total Sales by group`,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       	</a:t>
            </a:r>
            <a:r>
              <a:rPr lang="en-US" sz="1800" b="0" dirty="0">
                <a:solidFill>
                  <a:srgbClr val="7030A0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SUM</a:t>
            </a: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(`appjedin_student_temp`.`products`.`</a:t>
            </a:r>
            <a:r>
              <a:rPr lang="en-US" sz="18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SalePrice</a:t>
            </a: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`) </a:t>
            </a:r>
            <a:r>
              <a:rPr lang="en-US" sz="1800" b="0" dirty="0">
                <a:solidFill>
                  <a:srgbClr val="7030A0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AS</a:t>
            </a: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`Total Sales Price`,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       	</a:t>
            </a:r>
            <a:r>
              <a:rPr lang="en-US" sz="1800" b="0" dirty="0">
                <a:solidFill>
                  <a:srgbClr val="7030A0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AVG</a:t>
            </a: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(`appjedin_student_temp`.`products`.`</a:t>
            </a:r>
            <a:r>
              <a:rPr lang="en-US" sz="18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SalePrice</a:t>
            </a: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`) </a:t>
            </a:r>
            <a:r>
              <a:rPr lang="en-US" sz="1800" b="0" dirty="0">
                <a:solidFill>
                  <a:srgbClr val="7030A0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AS</a:t>
            </a: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`Average Sale Price`,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       	</a:t>
            </a:r>
            <a:r>
              <a:rPr lang="en-US" sz="1800" b="0" dirty="0">
                <a:solidFill>
                  <a:srgbClr val="7030A0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MIN</a:t>
            </a: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(`appjedin_student_temp`.`products`.`</a:t>
            </a:r>
            <a:r>
              <a:rPr lang="en-US" sz="18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SalePrice</a:t>
            </a: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`) </a:t>
            </a:r>
            <a:r>
              <a:rPr lang="en-US" sz="1800" b="0" dirty="0">
                <a:solidFill>
                  <a:srgbClr val="7030A0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AS</a:t>
            </a: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`Min Sale Price`,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       	</a:t>
            </a:r>
            <a:r>
              <a:rPr lang="en-US" sz="1800" b="0" dirty="0">
                <a:solidFill>
                  <a:srgbClr val="7030A0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MAX</a:t>
            </a: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(`appjedin_student_temp`.`products`.`</a:t>
            </a:r>
            <a:r>
              <a:rPr lang="en-US" sz="18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SalePrice</a:t>
            </a: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`) </a:t>
            </a:r>
            <a:r>
              <a:rPr lang="en-US" sz="1800" b="0" dirty="0">
                <a:solidFill>
                  <a:srgbClr val="7030A0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AS</a:t>
            </a: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`Max Sale Price`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94665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026BB-69D0-7220-FB4A-DE83D4A01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Calculated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A792E-DFB2-6277-D807-7ACC42733D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6753"/>
            <a:ext cx="10515600" cy="4590210"/>
          </a:xfrm>
        </p:spPr>
        <p:txBody>
          <a:bodyPr/>
          <a:lstStyle/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SELECT `type`,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ShortDescription</a:t>
            </a: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, 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	COUNT(*) AS `Total Sales by group`, 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	SUM(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 AS `Total Sales Price`, 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   AVG(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 AS `Average Sale Price`, 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   MIN(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 AS `Min Sale Price`, 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   MAX(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 AS `Max Sale Price`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FROM 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appjedin_student_temp.products</a:t>
            </a:r>
            <a:endParaRPr lang="en-US" sz="1600" b="0" dirty="0">
              <a:solidFill>
                <a:srgbClr val="3367D6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GROUP BY `type`,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ShortDescription</a:t>
            </a:r>
            <a:endParaRPr lang="en-US" sz="1600" b="0" dirty="0">
              <a:solidFill>
                <a:srgbClr val="3367D6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HAVING SUM(</a:t>
            </a:r>
            <a:r>
              <a:rPr lang="en-US" sz="1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SalePrice</a:t>
            </a:r>
            <a:r>
              <a:rPr lang="en-US" sz="1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)&gt;0</a:t>
            </a:r>
            <a:endParaRPr lang="en-US" sz="1600" dirty="0"/>
          </a:p>
          <a:p>
            <a:pPr marL="0" indent="0">
              <a:buNone/>
            </a:pPr>
            <a:endParaRPr lang="en-US" sz="2400" dirty="0"/>
          </a:p>
        </p:txBody>
      </p:sp>
      <p:pic>
        <p:nvPicPr>
          <p:cNvPr id="4" name="Picture 3" descr="A screenshot of a graph&#10;&#10;Description automatically generated">
            <a:extLst>
              <a:ext uri="{FF2B5EF4-FFF2-40B4-BE49-F238E27FC236}">
                <a16:creationId xmlns:a16="http://schemas.microsoft.com/office/drawing/2014/main" id="{E71BAFF7-FA37-2057-2949-F1D5B25AE9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672935"/>
            <a:ext cx="10262154" cy="1382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48068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A062C-155A-EEA3-3CB9-19BC6FDDC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Derived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2BF491-3AED-0248-746F-1189E00A53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Like calculated columns do not exist as a raw data column but are created from raw data columns just not numeric. 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70C0"/>
                </a:solidFill>
              </a:rPr>
              <a:t>SELECT</a:t>
            </a:r>
            <a:r>
              <a:rPr lang="en-US" sz="2400" dirty="0"/>
              <a:t> </a:t>
            </a:r>
            <a:r>
              <a:rPr lang="en-US" sz="2400" dirty="0" err="1"/>
              <a:t>lastName</a:t>
            </a:r>
            <a:r>
              <a:rPr lang="en-US" sz="2400" dirty="0"/>
              <a:t>, </a:t>
            </a:r>
            <a:r>
              <a:rPr lang="en-US" sz="2400" dirty="0" err="1"/>
              <a:t>firstName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0070C0"/>
                </a:solidFill>
              </a:rPr>
              <a:t>CONCAT</a:t>
            </a:r>
            <a:r>
              <a:rPr lang="en-US" sz="2400" dirty="0"/>
              <a:t> (</a:t>
            </a:r>
            <a:r>
              <a:rPr lang="en-US" sz="2400" dirty="0" err="1"/>
              <a:t>lastName</a:t>
            </a:r>
            <a:r>
              <a:rPr lang="en-US" sz="2400" dirty="0"/>
              <a:t>, ', ',</a:t>
            </a:r>
            <a:r>
              <a:rPr lang="en-US" sz="2400" dirty="0" err="1"/>
              <a:t>firstName</a:t>
            </a:r>
            <a:r>
              <a:rPr lang="en-US" sz="2400" dirty="0"/>
              <a:t>) AS </a:t>
            </a:r>
            <a:r>
              <a:rPr lang="en-US" sz="2400" dirty="0" err="1"/>
              <a:t>fullName</a:t>
            </a:r>
            <a:r>
              <a:rPr lang="en-US" sz="2400" dirty="0"/>
              <a:t> 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70C0"/>
                </a:solidFill>
              </a:rPr>
              <a:t>FROM</a:t>
            </a:r>
            <a:r>
              <a:rPr lang="en-US" sz="2400" dirty="0"/>
              <a:t> employees;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910189CA-269F-5FC7-01D7-68B29E9456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5500" y="3592979"/>
            <a:ext cx="3411818" cy="2300994"/>
          </a:xfrm>
          <a:prstGeom prst="rect">
            <a:avLst/>
          </a:prstGeom>
          <a:solidFill>
            <a:schemeClr val="accent2"/>
          </a:solidFill>
        </p:spPr>
      </p:pic>
    </p:spTree>
    <p:extLst>
      <p:ext uri="{BB962C8B-B14F-4D97-AF65-F5344CB8AC3E}">
        <p14:creationId xmlns:p14="http://schemas.microsoft.com/office/powerpoint/2010/main" val="2808728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64230-0341-8A29-DB54-40C0238D7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Source Sans 3"/>
              </a:rPr>
              <a:t>With or CTE: Common Table Expressions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396F3-1146-5014-94F2-000DC8FEE4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WITH </a:t>
            </a:r>
            <a:r>
              <a:rPr lang="en-US" dirty="0" err="1"/>
              <a:t>CTE_products</a:t>
            </a:r>
            <a:r>
              <a:rPr lang="en-US" dirty="0"/>
              <a:t> AS (</a:t>
            </a:r>
          </a:p>
          <a:p>
            <a:pPr marL="457200" lvl="1" indent="0">
              <a:buNone/>
            </a:pPr>
            <a:r>
              <a:rPr lang="en-US" dirty="0"/>
              <a:t> SELECT </a:t>
            </a:r>
          </a:p>
          <a:p>
            <a:pPr marL="457200" lvl="1" indent="0">
              <a:buNone/>
            </a:pPr>
            <a:r>
              <a:rPr lang="en-US" dirty="0"/>
              <a:t>       </a:t>
            </a:r>
            <a:r>
              <a:rPr lang="en-US" dirty="0" err="1"/>
              <a:t>o.customerId</a:t>
            </a:r>
            <a:r>
              <a:rPr lang="en-US" dirty="0"/>
              <a:t>,</a:t>
            </a:r>
          </a:p>
          <a:p>
            <a:pPr marL="457200" lvl="1" indent="0">
              <a:buNone/>
            </a:pPr>
            <a:r>
              <a:rPr lang="en-US" dirty="0"/>
              <a:t>        </a:t>
            </a:r>
            <a:r>
              <a:rPr lang="en-US" dirty="0" err="1"/>
              <a:t>datePlaced</a:t>
            </a:r>
            <a:r>
              <a:rPr lang="en-US" dirty="0"/>
              <a:t>,</a:t>
            </a:r>
          </a:p>
          <a:p>
            <a:pPr marL="457200" lvl="1" indent="0">
              <a:buNone/>
            </a:pPr>
            <a:r>
              <a:rPr lang="en-US" dirty="0"/>
              <a:t>        </a:t>
            </a:r>
            <a:r>
              <a:rPr lang="en-US" dirty="0" err="1"/>
              <a:t>dateShipped</a:t>
            </a:r>
            <a:r>
              <a:rPr lang="en-US" dirty="0"/>
              <a:t> ,</a:t>
            </a:r>
          </a:p>
          <a:p>
            <a:pPr marL="457200" lvl="1" indent="0">
              <a:buNone/>
            </a:pPr>
            <a:r>
              <a:rPr lang="en-US" dirty="0"/>
              <a:t>       </a:t>
            </a:r>
            <a:r>
              <a:rPr lang="en-US" dirty="0" err="1"/>
              <a:t>o.id</a:t>
            </a:r>
            <a:r>
              <a:rPr lang="en-US" dirty="0"/>
              <a:t> AS </a:t>
            </a:r>
            <a:r>
              <a:rPr lang="en-US" dirty="0" err="1"/>
              <a:t>orderId</a:t>
            </a:r>
            <a:r>
              <a:rPr lang="en-US" dirty="0"/>
              <a:t>,</a:t>
            </a:r>
          </a:p>
          <a:p>
            <a:pPr marL="457200" lvl="1" indent="0">
              <a:buNone/>
            </a:pPr>
            <a:r>
              <a:rPr lang="en-US" dirty="0"/>
              <a:t>        </a:t>
            </a:r>
            <a:r>
              <a:rPr lang="en-US" dirty="0" err="1"/>
              <a:t>o.`status</a:t>
            </a:r>
            <a:r>
              <a:rPr lang="en-US" dirty="0"/>
              <a:t>` ,</a:t>
            </a:r>
          </a:p>
          <a:p>
            <a:pPr marL="457200" lvl="1" indent="0">
              <a:buNone/>
            </a:pPr>
            <a:r>
              <a:rPr lang="en-US" dirty="0"/>
              <a:t>        </a:t>
            </a:r>
            <a:r>
              <a:rPr lang="en-US" dirty="0" err="1"/>
              <a:t>ol</a:t>
            </a:r>
            <a:r>
              <a:rPr lang="en-US" dirty="0"/>
              <a:t>.`quantity` ,</a:t>
            </a:r>
          </a:p>
          <a:p>
            <a:pPr marL="457200" lvl="1" indent="0">
              <a:buNone/>
            </a:pPr>
            <a:r>
              <a:rPr lang="en-US" dirty="0"/>
              <a:t>        </a:t>
            </a:r>
            <a:r>
              <a:rPr lang="en-US" dirty="0" err="1"/>
              <a:t>p.currentPrice</a:t>
            </a:r>
            <a:r>
              <a:rPr lang="en-US" dirty="0"/>
              <a:t>,</a:t>
            </a:r>
          </a:p>
          <a:p>
            <a:pPr marL="457200" lvl="1" indent="0">
              <a:buNone/>
            </a:pPr>
            <a:r>
              <a:rPr lang="en-US" dirty="0"/>
              <a:t>        `</a:t>
            </a:r>
            <a:r>
              <a:rPr lang="en-US" dirty="0" err="1"/>
              <a:t>p`.`name</a:t>
            </a:r>
            <a:r>
              <a:rPr lang="en-US" dirty="0"/>
              <a:t>` AS `Product Name`</a:t>
            </a:r>
          </a:p>
          <a:p>
            <a:pPr marL="457200" lvl="1" indent="0">
              <a:buNone/>
            </a:pPr>
            <a:r>
              <a:rPr lang="en-US" dirty="0"/>
              <a:t>    FROM `order`  o</a:t>
            </a:r>
          </a:p>
          <a:p>
            <a:pPr marL="457200" lvl="1" indent="0">
              <a:buNone/>
            </a:pPr>
            <a:r>
              <a:rPr lang="en-US" dirty="0"/>
              <a:t>        JOIN  </a:t>
            </a:r>
            <a:r>
              <a:rPr lang="en-US" dirty="0" err="1"/>
              <a:t>orderline</a:t>
            </a:r>
            <a:r>
              <a:rPr lang="en-US" dirty="0"/>
              <a:t> </a:t>
            </a:r>
            <a:r>
              <a:rPr lang="en-US" dirty="0" err="1"/>
              <a:t>ol</a:t>
            </a:r>
            <a:r>
              <a:rPr lang="en-US" dirty="0"/>
              <a:t> ON </a:t>
            </a:r>
            <a:r>
              <a:rPr lang="en-US" dirty="0" err="1"/>
              <a:t>o.ID</a:t>
            </a:r>
            <a:r>
              <a:rPr lang="en-US" dirty="0"/>
              <a:t> = </a:t>
            </a:r>
            <a:r>
              <a:rPr lang="en-US" dirty="0" err="1"/>
              <a:t>ol.orderID</a:t>
            </a:r>
            <a:endParaRPr lang="en-US" dirty="0"/>
          </a:p>
          <a:p>
            <a:pPr marL="457200" lvl="1" indent="0">
              <a:buNone/>
            </a:pPr>
            <a:r>
              <a:rPr lang="en-US" dirty="0"/>
              <a:t>        JOIN product p ON </a:t>
            </a:r>
            <a:r>
              <a:rPr lang="en-US" dirty="0" err="1"/>
              <a:t>ol.productID</a:t>
            </a:r>
            <a:r>
              <a:rPr lang="en-US" dirty="0"/>
              <a:t> = </a:t>
            </a:r>
            <a:r>
              <a:rPr lang="en-US" dirty="0" err="1"/>
              <a:t>p.ID</a:t>
            </a:r>
            <a:r>
              <a:rPr lang="en-US" dirty="0"/>
              <a:t>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Can be used in place of a sub-query.</a:t>
            </a:r>
          </a:p>
          <a:p>
            <a:pPr marL="0" indent="0">
              <a:buNone/>
            </a:pPr>
            <a:r>
              <a:rPr lang="en-US" dirty="0"/>
              <a:t>Creates a temporary virtual table in memory.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07726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64230-0341-8A29-DB54-40C0238D7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Source Sans 3"/>
              </a:rPr>
              <a:t>CTE Example: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396F3-1146-5014-94F2-000DC8FEE4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WITH 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CTE_products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AS (</a:t>
            </a:r>
          </a:p>
          <a:p>
            <a:pPr marL="0" indent="0">
              <a:buNone/>
            </a:pP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SELECT </a:t>
            </a:r>
          </a:p>
          <a:p>
            <a:pPr marL="0" indent="0">
              <a:buNone/>
            </a:pP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      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o.customerId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,</a:t>
            </a:r>
          </a:p>
          <a:p>
            <a:pPr marL="0" indent="0">
              <a:buNone/>
            </a:pP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       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datePlaced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,</a:t>
            </a:r>
          </a:p>
          <a:p>
            <a:pPr marL="0" indent="0">
              <a:buNone/>
            </a:pP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       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dateShipped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,</a:t>
            </a:r>
          </a:p>
          <a:p>
            <a:pPr marL="0" indent="0">
              <a:buNone/>
            </a:pP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      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o.id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AS 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orderId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,</a:t>
            </a:r>
          </a:p>
          <a:p>
            <a:pPr marL="0" indent="0">
              <a:buNone/>
            </a:pP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       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o.`status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` ,</a:t>
            </a:r>
          </a:p>
          <a:p>
            <a:pPr marL="0" indent="0">
              <a:buNone/>
            </a:pP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       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ol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.`quantity` ,</a:t>
            </a:r>
          </a:p>
          <a:p>
            <a:pPr marL="0" indent="0">
              <a:buNone/>
            </a:pP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       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p.currentPrice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,</a:t>
            </a:r>
          </a:p>
          <a:p>
            <a:pPr marL="0" indent="0">
              <a:buNone/>
            </a:pP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       `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p`.`name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` AS `Product Name`</a:t>
            </a:r>
          </a:p>
          <a:p>
            <a:pPr marL="0" indent="0">
              <a:buNone/>
            </a:pP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   FROM `order`  o</a:t>
            </a:r>
          </a:p>
          <a:p>
            <a:pPr marL="0" indent="0">
              <a:buNone/>
            </a:pP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       JOIN  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orderline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ol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ON 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o.ID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= 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ol.orderID</a:t>
            </a:r>
            <a:endParaRPr lang="en-US" sz="1400" b="0" dirty="0">
              <a:solidFill>
                <a:srgbClr val="3367D6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       JOIN product p ON 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ol.productID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= 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p.ID</a:t>
            </a:r>
            <a:r>
              <a:rPr lang="en-US" sz="1400" dirty="0">
                <a:solidFill>
                  <a:srgbClr val="3367D6"/>
                </a:solidFill>
                <a:highlight>
                  <a:srgbClr val="FFFFFF"/>
                </a:highlight>
                <a:latin typeface="Roboto Mono" pitchFamily="49" charset="0"/>
              </a:rPr>
              <a:t>)</a:t>
            </a:r>
            <a:endParaRPr lang="en-US" sz="1400" b="0" dirty="0">
              <a:solidFill>
                <a:srgbClr val="3367D6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SELECT c.*, p.*</a:t>
            </a:r>
          </a:p>
          <a:p>
            <a:pPr marL="0" indent="0">
              <a:buNone/>
            </a:pP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FROM customer c </a:t>
            </a:r>
          </a:p>
          <a:p>
            <a:pPr marL="0" indent="0">
              <a:buNone/>
            </a:pP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JOIN 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CTE_products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 p ON 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c.id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= </a:t>
            </a:r>
            <a:r>
              <a:rPr lang="en-US" sz="1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p.customerId</a:t>
            </a:r>
            <a:r>
              <a:rPr lang="en-US" sz="1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;</a:t>
            </a:r>
          </a:p>
          <a:p>
            <a:pPr marL="0" indent="0">
              <a:buNone/>
            </a:pPr>
            <a:endParaRPr lang="en-US" sz="1400" b="0" dirty="0">
              <a:solidFill>
                <a:srgbClr val="3A474E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endParaRPr lang="en-US" sz="1400" b="0" dirty="0">
              <a:solidFill>
                <a:srgbClr val="3A474E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05650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64230-0341-8A29-DB54-40C0238D7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Source Sans 3"/>
              </a:rPr>
              <a:t>AS CTE (WITH)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396F3-1146-5014-94F2-000DC8FEE4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br>
              <a:rPr lang="en-US" sz="800" b="0" dirty="0">
                <a:solidFill>
                  <a:srgbClr val="3A474E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</a:br>
            <a:endParaRPr lang="en-US" sz="800" b="0" dirty="0">
              <a:solidFill>
                <a:srgbClr val="3A474E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endParaRPr lang="en-US" sz="1400" b="0" dirty="0">
              <a:solidFill>
                <a:srgbClr val="3A474E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endParaRPr lang="en-US" sz="1400" b="0" dirty="0">
              <a:solidFill>
                <a:srgbClr val="3A474E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EE9767-AEB5-289B-46B4-5FBAA7F1B7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356" y="2280444"/>
            <a:ext cx="11067391" cy="1325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38606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D1D68-E2FB-F241-2FA5-B573F776F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CTE (WITH) Advantages: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756646-33BD-BBFF-F05A-0C225A3153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Simplicity</a:t>
            </a:r>
          </a:p>
          <a:p>
            <a:r>
              <a:rPr lang="en-US" dirty="0"/>
              <a:t>Performance CTE are held in memory so less I/O. 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02124"/>
                </a:solidFill>
                <a:effectLst/>
                <a:highlight>
                  <a:srgbClr val="FFFFFF"/>
                </a:highlight>
                <a:latin typeface="Google Sans"/>
              </a:rPr>
              <a:t>CTEs make code more readable. And readability makes queries easier to debug.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02124"/>
                </a:solidFill>
                <a:effectLst/>
                <a:highlight>
                  <a:srgbClr val="FFFFFF"/>
                </a:highlight>
                <a:latin typeface="Google Sans"/>
              </a:rPr>
              <a:t>CTEs can reference the results multiple times throughout the query. By storing the results of the subquery, you can reuse them throughout a larger query.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02124"/>
                </a:solidFill>
                <a:effectLst/>
                <a:highlight>
                  <a:srgbClr val="FFFFFF"/>
                </a:highlight>
                <a:latin typeface="Google Sans"/>
              </a:rPr>
              <a:t>CTEs can help you perform multi-level aggregations.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52692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74B7C2-AB1D-2FF5-52B2-8B66EECC5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Saving CTE using Stored Procedure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4C3170-E86F-15A3-8C66-BE6D1DC2C8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sz="2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CREATE</a:t>
            </a:r>
            <a:r>
              <a:rPr lang="en-US" sz="2600" b="0" dirty="0">
                <a:solidFill>
                  <a:srgbClr val="3A474E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</a:t>
            </a:r>
            <a:r>
              <a:rPr lang="en-US" sz="2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PROCEDURE</a:t>
            </a:r>
            <a:r>
              <a:rPr lang="en-US" sz="2600" b="0" dirty="0">
                <a:solidFill>
                  <a:srgbClr val="3A474E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</a:t>
            </a:r>
            <a:r>
              <a:rPr lang="en-US" sz="26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usp_cte_example</a:t>
            </a:r>
            <a:r>
              <a:rPr lang="en-US" sz="2600" b="0" dirty="0">
                <a:solidFill>
                  <a:srgbClr val="3A474E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</a:t>
            </a:r>
            <a:r>
              <a:rPr lang="en-US" sz="2600" b="0" dirty="0">
                <a:solidFill>
                  <a:srgbClr val="37474F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()</a:t>
            </a:r>
            <a:endParaRPr lang="en-US" sz="2600" b="0" dirty="0">
              <a:solidFill>
                <a:srgbClr val="3A474E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r>
              <a:rPr lang="en-US" sz="2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	WITH </a:t>
            </a:r>
            <a:r>
              <a:rPr lang="en-US" sz="2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CTE_products</a:t>
            </a:r>
            <a:r>
              <a:rPr lang="en-US" sz="2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AS (</a:t>
            </a:r>
          </a:p>
          <a:p>
            <a:pPr marL="0" indent="0">
              <a:buNone/>
            </a:pPr>
            <a:r>
              <a:rPr lang="en-US" sz="2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	 SELECT </a:t>
            </a:r>
          </a:p>
          <a:p>
            <a:pPr marL="0" indent="0">
              <a:buNone/>
            </a:pPr>
            <a:r>
              <a:rPr lang="en-US" sz="2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		   </a:t>
            </a:r>
            <a:r>
              <a:rPr lang="en-US" sz="2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o.customerId</a:t>
            </a:r>
            <a:r>
              <a:rPr lang="en-US" sz="2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, </a:t>
            </a:r>
            <a:r>
              <a:rPr lang="en-US" sz="2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datePlaced</a:t>
            </a:r>
            <a:r>
              <a:rPr lang="en-US" sz="2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,</a:t>
            </a:r>
          </a:p>
          <a:p>
            <a:pPr marL="0" indent="0">
              <a:buNone/>
            </a:pPr>
            <a:r>
              <a:rPr lang="en-US" sz="2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			</a:t>
            </a:r>
            <a:r>
              <a:rPr lang="en-US" sz="2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dateShipped</a:t>
            </a:r>
            <a:r>
              <a:rPr lang="en-US" sz="2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, </a:t>
            </a:r>
            <a:r>
              <a:rPr lang="en-US" sz="2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o.id</a:t>
            </a:r>
            <a:r>
              <a:rPr lang="en-US" sz="2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AS </a:t>
            </a:r>
            <a:r>
              <a:rPr lang="en-US" sz="2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orderId</a:t>
            </a:r>
            <a:r>
              <a:rPr lang="en-US" sz="2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,</a:t>
            </a:r>
          </a:p>
          <a:p>
            <a:pPr marL="0" indent="0">
              <a:buNone/>
            </a:pPr>
            <a:r>
              <a:rPr lang="en-US" sz="2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			</a:t>
            </a:r>
            <a:r>
              <a:rPr lang="en-US" sz="2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o.`status</a:t>
            </a:r>
            <a:r>
              <a:rPr lang="en-US" sz="2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` , </a:t>
            </a:r>
            <a:r>
              <a:rPr lang="en-US" sz="2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ol</a:t>
            </a:r>
            <a:r>
              <a:rPr lang="en-US" sz="2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.`quantity` ,</a:t>
            </a:r>
          </a:p>
          <a:p>
            <a:pPr marL="0" indent="0">
              <a:buNone/>
            </a:pPr>
            <a:r>
              <a:rPr lang="en-US" sz="2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			p.</a:t>
            </a:r>
            <a:r>
              <a:rPr lang="en-US" sz="2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currentPrice</a:t>
            </a:r>
            <a:r>
              <a:rPr lang="en-US" sz="2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,`</a:t>
            </a:r>
            <a:r>
              <a:rPr lang="en-US" sz="2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p`.`name</a:t>
            </a:r>
            <a:r>
              <a:rPr lang="en-US" sz="2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` AS `Product Name`</a:t>
            </a:r>
          </a:p>
          <a:p>
            <a:pPr marL="0" indent="0">
              <a:buNone/>
            </a:pPr>
            <a:r>
              <a:rPr lang="en-US" sz="2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		FROM `order`  o</a:t>
            </a:r>
          </a:p>
          <a:p>
            <a:pPr marL="0" indent="0">
              <a:buNone/>
            </a:pPr>
            <a:r>
              <a:rPr lang="en-US" sz="2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			JOIN  </a:t>
            </a:r>
            <a:r>
              <a:rPr lang="en-US" sz="2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orderline</a:t>
            </a:r>
            <a:r>
              <a:rPr lang="en-US" sz="2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</a:t>
            </a:r>
            <a:r>
              <a:rPr lang="en-US" sz="2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ol</a:t>
            </a:r>
            <a:r>
              <a:rPr lang="en-US" sz="2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ON </a:t>
            </a:r>
            <a:r>
              <a:rPr lang="en-US" sz="2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o.ID</a:t>
            </a:r>
            <a:r>
              <a:rPr lang="en-US" sz="2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= </a:t>
            </a:r>
            <a:r>
              <a:rPr lang="en-US" sz="2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ol.orderID</a:t>
            </a:r>
            <a:endParaRPr lang="en-US" sz="2600" b="0" dirty="0">
              <a:solidFill>
                <a:srgbClr val="3367D6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r>
              <a:rPr lang="en-US" sz="2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			JOIN product p ON </a:t>
            </a:r>
            <a:r>
              <a:rPr lang="en-US" sz="2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ol.productID</a:t>
            </a:r>
            <a:r>
              <a:rPr lang="en-US" sz="2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= </a:t>
            </a:r>
            <a:r>
              <a:rPr lang="en-US" sz="2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p.ID</a:t>
            </a:r>
            <a:r>
              <a:rPr lang="en-US" sz="2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</a:t>
            </a:r>
          </a:p>
          <a:p>
            <a:pPr marL="0" indent="0">
              <a:buNone/>
            </a:pPr>
            <a:endParaRPr lang="en-US" sz="2600" b="0" dirty="0">
              <a:solidFill>
                <a:srgbClr val="3367D6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r>
              <a:rPr lang="en-US" sz="2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	SELECT c.*, p.*</a:t>
            </a:r>
          </a:p>
          <a:p>
            <a:pPr marL="0" indent="0">
              <a:buNone/>
            </a:pPr>
            <a:r>
              <a:rPr lang="en-US" sz="2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	FROM customer c </a:t>
            </a:r>
          </a:p>
          <a:p>
            <a:pPr marL="0" indent="0">
              <a:buNone/>
            </a:pPr>
            <a:r>
              <a:rPr lang="en-US" sz="2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	JOIN </a:t>
            </a:r>
            <a:r>
              <a:rPr lang="en-US" sz="2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CTE_products</a:t>
            </a:r>
            <a:r>
              <a:rPr lang="en-US" sz="2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 p ON </a:t>
            </a:r>
            <a:r>
              <a:rPr lang="en-US" sz="2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c.id</a:t>
            </a:r>
            <a:r>
              <a:rPr lang="en-US" sz="2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= </a:t>
            </a:r>
            <a:r>
              <a:rPr lang="en-US" sz="26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p.customerId</a:t>
            </a:r>
            <a:r>
              <a:rPr lang="en-US" sz="26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;</a:t>
            </a:r>
          </a:p>
          <a:p>
            <a:pPr marL="0" indent="0">
              <a:buNone/>
            </a:pPr>
            <a:r>
              <a:rPr lang="en-US" sz="2600" dirty="0">
                <a:solidFill>
                  <a:srgbClr val="3367D6"/>
                </a:solidFill>
                <a:highlight>
                  <a:srgbClr val="FFFFFF"/>
                </a:highlight>
                <a:latin typeface="Roboto Mono" pitchFamily="49" charset="0"/>
              </a:rPr>
              <a:t>END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33367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B9CE4-160E-F2DF-61DF-C0488FEE7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Calling the Stored Procedure: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755607-008C-7E8D-CC84-F82F3E2F19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>
              <a:solidFill>
                <a:srgbClr val="3A474E"/>
              </a:solidFill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endParaRPr lang="en-US" b="0" dirty="0">
              <a:solidFill>
                <a:srgbClr val="3A474E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B101090-0D12-A84B-B080-9608F0C63D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2405" y="1678594"/>
            <a:ext cx="11099330" cy="3316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20829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3946E-50CA-3CA0-0C55-60D1973F2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9FC325-0A7E-B75C-A05F-775B7306F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0" i="0" dirty="0">
                <a:solidFill>
                  <a:srgbClr val="0000CD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CASE</a:t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   </a:t>
            </a:r>
            <a:r>
              <a:rPr lang="en-US" b="0" i="0" dirty="0">
                <a:solidFill>
                  <a:srgbClr val="0000CD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WHEN</a:t>
            </a:r>
            <a:r>
              <a:rPr 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</a:t>
            </a:r>
            <a:r>
              <a:rPr lang="en-US" b="0" i="1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condition1</a:t>
            </a:r>
            <a:r>
              <a:rPr 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</a:t>
            </a:r>
            <a:r>
              <a:rPr lang="en-US" b="0" i="0" dirty="0">
                <a:solidFill>
                  <a:srgbClr val="0000CD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THEN</a:t>
            </a:r>
            <a:r>
              <a:rPr 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</a:t>
            </a:r>
            <a:r>
              <a:rPr lang="en-US" b="0" i="1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result1</a:t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   </a:t>
            </a:r>
            <a:r>
              <a:rPr lang="en-US" b="0" i="0" dirty="0">
                <a:solidFill>
                  <a:srgbClr val="0000CD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WHEN</a:t>
            </a:r>
            <a:r>
              <a:rPr 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</a:t>
            </a:r>
            <a:r>
              <a:rPr lang="en-US" b="0" i="1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condition2</a:t>
            </a:r>
            <a:r>
              <a:rPr 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</a:t>
            </a:r>
            <a:r>
              <a:rPr lang="en-US" b="0" i="0" dirty="0">
                <a:solidFill>
                  <a:srgbClr val="0000CD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THEN</a:t>
            </a:r>
            <a:r>
              <a:rPr 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</a:t>
            </a:r>
            <a:r>
              <a:rPr lang="en-US" b="0" i="1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result2</a:t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   </a:t>
            </a:r>
            <a:r>
              <a:rPr lang="en-US" b="0" i="0" dirty="0">
                <a:solidFill>
                  <a:srgbClr val="0000CD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WHEN</a:t>
            </a:r>
            <a:r>
              <a:rPr 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</a:t>
            </a:r>
            <a:r>
              <a:rPr lang="en-US" b="0" i="1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conditionN</a:t>
            </a:r>
            <a:r>
              <a:rPr 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</a:t>
            </a:r>
            <a:r>
              <a:rPr lang="en-US" b="0" i="0" dirty="0">
                <a:solidFill>
                  <a:srgbClr val="0000CD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THEN</a:t>
            </a:r>
            <a:r>
              <a:rPr 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</a:t>
            </a:r>
            <a:r>
              <a:rPr lang="en-US" b="0" i="1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resultN</a:t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   </a:t>
            </a:r>
            <a:r>
              <a:rPr lang="en-US" b="0" i="0" dirty="0">
                <a:solidFill>
                  <a:srgbClr val="0000CD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ELSE</a:t>
            </a:r>
            <a:r>
              <a:rPr 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</a:t>
            </a:r>
            <a:r>
              <a:rPr lang="en-US" b="0" i="1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result</a:t>
            </a:r>
            <a:br>
              <a:rPr lang="en-US" dirty="0"/>
            </a:br>
            <a:r>
              <a:rPr lang="en-US" b="0" i="0" dirty="0">
                <a:solidFill>
                  <a:srgbClr val="0000CD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END</a:t>
            </a:r>
            <a:r>
              <a:rPr 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sz="2400" dirty="0"/>
              <a:t>Exercise:  Try the above query with different columns, tables.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91473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3946E-50CA-3CA0-0C55-60D1973F2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Example: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9FC325-0A7E-B75C-A05F-775B7306F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6864" y="1615313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SELECT </a:t>
            </a:r>
            <a:r>
              <a:rPr lang="en-US" sz="18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description,categoryId</a:t>
            </a: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,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	CASE 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		WHEN </a:t>
            </a:r>
            <a:r>
              <a:rPr lang="en-US" sz="18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categoryId</a:t>
            </a: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=1 THEN 'Computers'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		WHEN </a:t>
            </a:r>
            <a:r>
              <a:rPr lang="en-US" sz="18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categoryId</a:t>
            </a: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=2 THEN 'Clothing'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		ELSE 'Other'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	END AS category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FROM items;</a:t>
            </a:r>
          </a:p>
          <a:p>
            <a:pPr marL="0" indent="0">
              <a:buNone/>
            </a:pPr>
            <a:endParaRPr lang="en-US" sz="1800" dirty="0"/>
          </a:p>
        </p:txBody>
      </p:sp>
      <p:pic>
        <p:nvPicPr>
          <p:cNvPr id="5" name="Picture 4" descr="A screenshot of a phone&#10;&#10;Description automatically generated">
            <a:extLst>
              <a:ext uri="{FF2B5EF4-FFF2-40B4-BE49-F238E27FC236}">
                <a16:creationId xmlns:a16="http://schemas.microsoft.com/office/drawing/2014/main" id="{E620BE77-40DB-6704-9340-37A6B72F90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4338237"/>
            <a:ext cx="5117058" cy="1883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4022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C476B-C0EE-C041-E89E-7D94FCD54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1CB9A3-D34E-0FB5-F937-3DB9FBC134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2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Questions?</a:t>
            </a:r>
          </a:p>
          <a:p>
            <a:pPr marL="0" marR="0" lvl="0" indent="0">
              <a:spcBef>
                <a:spcPts val="0"/>
              </a:spcBef>
              <a:spcAft>
                <a:spcPts val="0"/>
              </a:spcAft>
              <a:buNone/>
            </a:pPr>
            <a:endParaRPr lang="en-US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More on stored procedures.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2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Date functions.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2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String functions.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28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Numeric Functions.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endParaRPr lang="en-US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Please like and subscribe.</a:t>
            </a:r>
          </a:p>
          <a:p>
            <a:pPr marL="0" marR="0" lvl="0" indent="0">
              <a:spcBef>
                <a:spcPts val="0"/>
              </a:spcBef>
              <a:spcAft>
                <a:spcPts val="0"/>
              </a:spcAft>
              <a:buNone/>
            </a:pPr>
            <a:endParaRPr lang="en-US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Visit me at </a:t>
            </a:r>
            <a:r>
              <a:rPr lang="en-US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www.appjedi.net</a:t>
            </a:r>
            <a:endParaRPr lang="en-US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810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17903</TotalTime>
  <Words>1313</Words>
  <Application>Microsoft Macintosh PowerPoint</Application>
  <PresentationFormat>Widescreen</PresentationFormat>
  <Paragraphs>194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0" baseType="lpstr">
      <vt:lpstr>Aptos</vt:lpstr>
      <vt:lpstr>Aptos Display</vt:lpstr>
      <vt:lpstr>Arial</vt:lpstr>
      <vt:lpstr>Consolas</vt:lpstr>
      <vt:lpstr>Google Sans</vt:lpstr>
      <vt:lpstr>Roboto</vt:lpstr>
      <vt:lpstr>Roboto Mono</vt:lpstr>
      <vt:lpstr>Source Sans 3</vt:lpstr>
      <vt:lpstr>Symbol</vt:lpstr>
      <vt:lpstr>Office Theme</vt:lpstr>
      <vt:lpstr>Introduction to SQL: Structured Query Language By AppJedi</vt:lpstr>
      <vt:lpstr>Review Syllabus.</vt:lpstr>
      <vt:lpstr>Views:</vt:lpstr>
      <vt:lpstr>CREATE VIEW EXAMPLE:</vt:lpstr>
      <vt:lpstr>Benefits:</vt:lpstr>
      <vt:lpstr>COMPLEX QUERY:</vt:lpstr>
      <vt:lpstr>CREATE A VIEW of a COMPLEX QUERY:</vt:lpstr>
      <vt:lpstr>Restrict columns</vt:lpstr>
      <vt:lpstr>Derived/Calculated columns</vt:lpstr>
      <vt:lpstr>Calculated columns</vt:lpstr>
      <vt:lpstr>Derived Columns</vt:lpstr>
      <vt:lpstr>With or CTE: Common Table Expressions</vt:lpstr>
      <vt:lpstr>CTE Example:</vt:lpstr>
      <vt:lpstr>AS CTE (WITH)</vt:lpstr>
      <vt:lpstr>CTE (WITH) Advantages:</vt:lpstr>
      <vt:lpstr>Saving CTE using Stored Procedure</vt:lpstr>
      <vt:lpstr>Calling the Stored Procedure:</vt:lpstr>
      <vt:lpstr>CASE</vt:lpstr>
      <vt:lpstr>CASE Example:</vt:lpstr>
      <vt:lpstr>NEXT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SQL: Structured Query Language </dc:title>
  <dc:creator>Robert Timlin</dc:creator>
  <cp:lastModifiedBy>Bob Timlin</cp:lastModifiedBy>
  <cp:revision>444</cp:revision>
  <dcterms:created xsi:type="dcterms:W3CDTF">2024-04-28T18:01:14Z</dcterms:created>
  <dcterms:modified xsi:type="dcterms:W3CDTF">2026-07-22T19:05:10Z</dcterms:modified>
</cp:coreProperties>
</file>